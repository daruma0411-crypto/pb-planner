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【V6 修正の背景】</a:t>
            </a:r>
          </a:p>
          <a:p>
            <a:r>
              <a:t>当初の仮説「100L × 人間工学（woman-friendly）」は、ベース機種候補のトミー精工 FLS-1000 が既に NB として「女性ユーザー着目・片手開閉アシスト・ローテーブル79cm設計」を訴求済みであることが判明。</a:t>
            </a:r>
          </a:p>
          <a:p>
            <a:r>
              <a:t>そのため、PB の独自差別化軸を「FLS-1000 の弱点補強」軸に再設計した。</a:t>
            </a:r>
          </a:p>
          <a:p>
            <a:r>
              <a:t>- 仮説 A: GMP/IQ-OQ + USB/LAN データ可搬（製薬・CDMO 試作ラボ向け）</a:t>
            </a:r>
          </a:p>
          <a:p>
            <a:r>
              <a:t>- 仮説 B: 多言語UI + クラウド通知 + サブスク（バイオベンチャー/再生医療向け）</a:t>
            </a:r>
          </a:p>
          <a:p>
            <a:r>
              <a:t>- 仮説 C: 横置き省設置 + 消耗品同梱（量販向け）</a:t>
            </a:r>
          </a:p>
          <a:p>
            <a:r>
              <a:t>woman-friendly 軸は NB が占有、PB は継承するが独自軸にしない。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【V6 修正】ポジショニング・マトリクスの空白地帯を「IQ-OQ × 中価格」に再定義。</a:t>
            </a:r>
          </a:p>
          <a:p>
            <a:r>
              <a:t>新 STP レポートの軸：</a:t>
            </a:r>
          </a:p>
          <a:p>
            <a:r>
              <a:t>- 軸X：滅菌記録の外部要件強度（IQ-OQ／GMP）</a:t>
            </a:r>
          </a:p>
          <a:p>
            <a:r>
              <a:t>- 軸Y：ハード単価感度 × 消耗品月次回転</a:t>
            </a:r>
          </a:p>
          <a:p>
            <a:r>
              <a:t>優先ターゲット T-A（製薬 CDMO 試作）、T-C（バイオベンチャー）は NB 全社が現状 satisfy していない空白地帯。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【V6 修正】PB 仮称を「validated 100L」に変更。</a:t>
            </a:r>
          </a:p>
          <a:p>
            <a:r>
              <a:t>NB（FLS-1000）の人間工学訴求は維持しつつ、PB の独自軸として以下を加算：</a:t>
            </a:r>
          </a:p>
          <a:p>
            <a:r>
              <a:t>1. IQ-OQ 文書一式同梱（業界全社が現状未訴求）</a:t>
            </a:r>
          </a:p>
          <a:p>
            <a:r>
              <a:t>2. USB/LAN データ可搬 + 電子署名（21CFR Part11 対応）</a:t>
            </a:r>
          </a:p>
          <a:p>
            <a:r>
              <a:t>3. 多言語 UI + クラウド通知</a:t>
            </a:r>
          </a:p>
          <a:p>
            <a:r>
              <a:t>4. NB 比 -5〜10% 価格、IQ-OQ 込み総コストで -25%</a:t>
            </a:r>
          </a:p>
          <a:p>
            <a:r>
              <a:t>キャッチコピーも NB 軸（woman-friendly）の言い換えから、IQ-OQ・データ可搬・クラウド連動の文脈に刷新。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【V6 修正】想定スペック・キャッチ・価格・ターゲット・販路を新軸で再設計。</a:t>
            </a:r>
          </a:p>
          <a:p>
            <a:r>
              <a:t>ターゲット T-A：製薬・CDMO 試作ラボの QA 担当（40代、IQ-OQ × データ可搬を重視）</a:t>
            </a:r>
          </a:p>
          <a:p>
            <a:r>
              <a:t>ターゲット T-C：バイオベンチャー研究 PI（多言語 + クラウド + サブスクで未開拓層を取りに行く）</a:t>
            </a:r>
          </a:p>
          <a:p>
            <a:r>
              <a:t>T-B（大学）は NB 競合度が高い（hirayama HV-110Ⅱ ¥990,000、yamato HVA-110LB ¥742,000）ため優先度を下げる。</a:t>
            </a:r>
          </a:p>
          <a:p>
            <a:r>
              <a:t>詳細は新 STP/4P/Finish レポート参照（HTML 別添）。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2011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F3A5F"/>
                </a:solidFill>
                <a:latin typeface="Noto Sans JP"/>
              </a:rPr>
              <a:t>勘と手作業から脱却する、</a:t>
            </a:r>
          </a:p>
          <a:p>
            <a:pPr algn="l">
              <a:lnSpc>
                <a:spcPct val="125000"/>
              </a:lnSpc>
            </a:pPr>
            <a:r>
              <a:rPr sz="4400" b="1">
                <a:solidFill>
                  <a:srgbClr val="1F3A5F"/>
                </a:solidFill>
                <a:latin typeface="Noto Sans JP"/>
              </a:rPr>
              <a:t>次世代PB開発の「設計図」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>
                <a:solidFill>
                  <a:srgbClr val="6B7280"/>
                </a:solidFill>
                <a:latin typeface="Noto Sans JP"/>
              </a:rPr>
              <a:t>データ駆動型プラットフォームがもたらす、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6B7280"/>
                </a:solidFill>
                <a:latin typeface="Noto Sans JP"/>
              </a:rPr>
              <a:t>圧倒的なスピードとヒット確率の向上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5029200"/>
            <a:ext cx="1033272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 b="1">
                <a:solidFill>
                  <a:srgbClr val="C4763A"/>
                </a:solidFill>
                <a:latin typeface="Noto Sans JP"/>
              </a:rPr>
              <a:t>アズワン株式会社</a:t>
            </a:r>
            <a:r>
              <a:rPr sz="1800" b="0">
                <a:solidFill>
                  <a:srgbClr val="1F3A5F"/>
                </a:solidFill>
                <a:latin typeface="Noto Sans JP"/>
              </a:rPr>
              <a:t> 様向け｜</a:t>
            </a:r>
            <a:r>
              <a:rPr sz="1800" b="1">
                <a:solidFill>
                  <a:srgbClr val="C4763A"/>
                </a:solidFill>
                <a:latin typeface="Noto Sans JP"/>
              </a:rPr>
              <a:t>オートクレーブPB戦略</a:t>
            </a:r>
            <a:r>
              <a:rPr sz="1800" b="0">
                <a:solidFill>
                  <a:srgbClr val="1F3A5F"/>
                </a:solidFill>
                <a:latin typeface="Noto Sans JP"/>
              </a:rPr>
              <a:t> 導入提案書</a:t>
            </a:r>
            <a:r>
              <a:rPr lang="en-US" sz="1800" b="0">
                <a:solidFill>
                  <a:srgbClr val="1F3A5F"/>
                </a:solidFill>
                <a:latin typeface="Noto Sans JP"/>
              </a:rPr>
              <a:t>(</a:t>
            </a:r>
            <a:r>
              <a:rPr lang="ja-JP" altLang="en-US" sz="1800" b="0">
                <a:solidFill>
                  <a:srgbClr val="1F3A5F"/>
                </a:solidFill>
                <a:latin typeface="Noto Sans JP"/>
              </a:rPr>
              <a:t>あくまでも仮説です！</a:t>
            </a:r>
            <a:r>
              <a:rPr lang="en-US" sz="1800" b="0">
                <a:solidFill>
                  <a:srgbClr val="1F3A5F"/>
                </a:solidFill>
                <a:latin typeface="Noto Sans JP"/>
              </a:rPr>
              <a:t>)</a:t>
            </a:r>
            <a:endParaRPr sz="1800" b="0">
              <a:solidFill>
                <a:srgbClr val="1F3A5F"/>
              </a:solidFill>
              <a:latin typeface="Noto Sans JP"/>
            </a:endParaRPr>
          </a:p>
          <a:p>
            <a:r>
              <a:rPr sz="1400" b="0">
                <a:solidFill>
                  <a:srgbClr val="6B7280"/>
                </a:solidFill>
                <a:latin typeface="Noto Sans JP"/>
              </a:rPr>
              <a:t>2026年5月1</a:t>
            </a:r>
            <a:r>
              <a:rPr lang="en-US" sz="1400" b="0">
                <a:solidFill>
                  <a:srgbClr val="6B7280"/>
                </a:solidFill>
                <a:latin typeface="Noto Sans JP"/>
              </a:rPr>
              <a:t>5</a:t>
            </a:r>
            <a:r>
              <a:rPr sz="1400" b="0">
                <a:solidFill>
                  <a:srgbClr val="6B7280"/>
                </a:solidFill>
                <a:latin typeface="Noto Sans JP"/>
              </a:rPr>
              <a:t>日｜</a:t>
            </a:r>
            <a:r>
              <a:rPr lang="ja-JP" altLang="en-US" sz="1400">
                <a:solidFill>
                  <a:srgbClr val="6B7280"/>
                </a:solidFill>
                <a:latin typeface="Noto Sans JP"/>
              </a:rPr>
              <a:t>株式会社あかがね</a:t>
            </a:r>
            <a:endParaRPr sz="1400" b="0">
              <a:solidFill>
                <a:srgbClr val="6B7280"/>
              </a:solidFill>
              <a:latin typeface="Noto Sans JP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企画者の時間を奪う、旧来型PB開発の悪循環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【悪循環の構造】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199"/>
            <a:ext cx="5486400" cy="4702629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1. データの散乱と手作業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EC・SNS・社内POSが分断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2. 膨大な情報収集に疲弊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担当者が手作業で網羅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3. 分析の属人化・勘への依存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経験豊富な企画者頼み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4. 長いリードタイムとマスタ作成の手間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</a:t>
            </a:r>
            <a:r>
              <a:rPr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商品化まで</a:t>
            </a:r>
            <a:r>
              <a:rPr lang="ja-JP" altLang="en-US"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〇</a:t>
            </a:r>
            <a:r>
              <a:rPr lang="ja-JP" altLang="en-US" sz="16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</a:t>
            </a:r>
            <a:endParaRPr sz="1600" b="0">
              <a:solidFill>
                <a:srgbClr val="111827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【結果】ヒット率の低迷</a:t>
            </a:r>
            <a:r>
              <a:rPr lang="ja-JP" altLang="en-US" b="1">
                <a:solidFill>
                  <a:srgbClr val="C4763A"/>
                </a:solidFill>
                <a:latin typeface="Noto Sans JP"/>
              </a:rPr>
              <a:t>？？？</a:t>
            </a:r>
            <a:endParaRPr b="1">
              <a:solidFill>
                <a:srgbClr val="C4763A"/>
              </a:solidFill>
              <a:latin typeface="Noto Sans JP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【3つの構造的課題】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51311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手作業による情報収集は限界に達し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正規化できていない</a:t>
            </a:r>
            <a:r>
              <a:rPr b="0">
                <a:solidFill>
                  <a:srgbClr val="111827"/>
                </a:solidFill>
                <a:latin typeface="Noto Sans JP"/>
              </a:rPr>
              <a:t>、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また</a:t>
            </a:r>
            <a:r>
              <a:rPr b="0">
                <a:solidFill>
                  <a:srgbClr val="111827"/>
                </a:solidFill>
                <a:latin typeface="Noto Sans JP"/>
              </a:rPr>
              <a:t>市場の声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や</a:t>
            </a:r>
            <a:r>
              <a:rPr lang="en-US" altLang="ja-JP" b="0">
                <a:solidFill>
                  <a:srgbClr val="111827"/>
                </a:solidFill>
                <a:latin typeface="Noto Sans JP"/>
              </a:rPr>
              <a:t>POS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・</a:t>
            </a:r>
            <a:r>
              <a:rPr lang="en-US" altLang="ja-JP" b="0">
                <a:solidFill>
                  <a:srgbClr val="111827"/>
                </a:solidFill>
                <a:latin typeface="Noto Sans JP"/>
              </a:rPr>
              <a:t>SNS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まで</a:t>
            </a:r>
            <a:r>
              <a:rPr b="0">
                <a:solidFill>
                  <a:srgbClr val="111827"/>
                </a:solidFill>
                <a:latin typeface="Noto Sans JP"/>
              </a:rPr>
              <a:t>網羅できていない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為、分析材料がそろっていない状況</a:t>
            </a:r>
            <a:endParaRPr b="0">
              <a:solidFill>
                <a:srgbClr val="111827"/>
              </a:solidFill>
              <a:latin typeface="Noto Sans JP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3017520"/>
            <a:ext cx="5486400" cy="18679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データが活かせず、分析・企画が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「担当者の勘と経験」に依存（属人化）している。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434840"/>
            <a:ext cx="5486400" cy="18679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lang="ja-JP" altLang="en-US" b="0">
                <a:solidFill>
                  <a:srgbClr val="111827"/>
                </a:solidFill>
                <a:latin typeface="Noto Sans JP"/>
              </a:rPr>
              <a:t>企画に注力しているため、本来</a:t>
            </a:r>
            <a:r>
              <a:rPr b="0">
                <a:solidFill>
                  <a:srgbClr val="111827"/>
                </a:solidFill>
                <a:latin typeface="Noto Sans JP"/>
              </a:rPr>
              <a:t>商品マスタ作成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まで役割として担うべきところ、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後工程部門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がサポートしている状況。結果的にすり合わせ・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問い合わせ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工数が増加。</a:t>
            </a:r>
            <a:endParaRPr b="0">
              <a:solidFill>
                <a:srgbClr val="111827"/>
              </a:solidFill>
              <a:latin typeface="Noto Sans JP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属人的な「勘」から、データに裏付けられた「科学」へ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609468"/>
              </p:ext>
            </p:extLst>
          </p:nvPr>
        </p:nvGraphicFramePr>
        <p:xfrm>
          <a:off x="457200" y="1280160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9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6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1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l"/>
                      <a:endParaRPr sz="2000"/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旧来のPB開発（As-Is）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次世代プラットフォーム（To-Be）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情報収集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人手による限定的なリサーチ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スクレイピングによる網羅的なインサイト抽出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分析・戦略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主観的・属人的な判断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POS ×</a:t>
                      </a:r>
                      <a:r>
                        <a:rPr sz="1600" b="1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 外部</a:t>
                      </a:r>
                      <a:r>
                        <a:rPr lang="ja-JP" altLang="en-US" sz="1600" b="1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商品マスタ</a:t>
                      </a:r>
                      <a:r>
                        <a:rPr sz="1600" b="1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データ</a:t>
                      </a:r>
                      <a:r>
                        <a:rPr sz="16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による 3C / STP / 4P 自動構造化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分析手法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担当者1人が全工程を担う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C4763A"/>
                          </a:solidFill>
                          <a:latin typeface="Noto Sans JP"/>
                        </a:rPr>
                        <a:t>5専門家AIエージェント（3C／KSF／STP／4P／キャッチ+マスタ）の分業＋ヒト承認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アウトプット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手作業での仕様・価格・コピー作成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「スペックちょい替え」に基づくマスタ自動生成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スピード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〇〇日～</a:t>
                      </a:r>
                      <a:r>
                        <a:rPr sz="16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数ヶ月に及ぶ長期化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圧倒的なリードタイム短縮（実証：7-10 分/案件）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データの混沌をヒット商品に変換する 3つのコア・エンジン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1737360"/>
            <a:ext cx="8229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収集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38328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Noto Sans JP"/>
              </a:rPr>
              <a:t>網羅的なインサイト抽出</a:t>
            </a:r>
          </a:p>
          <a:p>
            <a:pPr algn="l">
              <a:lnSpc>
                <a:spcPct val="125000"/>
              </a:lnSpc>
            </a:pPr>
            <a:endParaRPr sz="18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Noto Sans JP"/>
              </a:rPr>
              <a:t>人間の限界を超えた
データ収集
</a:t>
            </a:r>
            <a:r>
              <a:rPr lang="en-US" altLang="ja-JP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lang="ja-JP" altLang="en-US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データ、</a:t>
            </a:r>
            <a:r>
              <a:rPr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競合</a:t>
            </a:r>
            <a:r>
              <a:rPr lang="ja-JP" altLang="en-US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メーカーサイト</a:t>
            </a:r>
            <a:r>
              <a:rPr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・SNS</a:t>
            </a:r>
            <a:r>
              <a:rPr lang="ja-JP" altLang="en-US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、口コミ</a:t>
            </a:r>
            <a:r>
              <a:rPr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r>
              <a:rPr lang="en-US" altLang="ja-JP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PF</a:t>
            </a:r>
            <a:r>
              <a:rPr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に集約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86200" y="3383280"/>
            <a:ext cx="320040" cy="45720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60" y="1737360"/>
            <a:ext cx="8229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整理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554480"/>
            <a:ext cx="338328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Noto Sans JP"/>
              </a:rPr>
              <a:t>売れる空白地帯の特定</a:t>
            </a:r>
          </a:p>
          <a:p>
            <a:pPr algn="l">
              <a:lnSpc>
                <a:spcPct val="125000"/>
              </a:lnSpc>
            </a:pPr>
            <a:endParaRPr sz="18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Noto Sans JP"/>
              </a:rPr>
              <a:t>科学的フレームワークへの
構造化
</a:t>
            </a:r>
            <a:r>
              <a:rPr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3C → KSF → STP → 4P → キャッチ+</a:t>
            </a:r>
            <a:r>
              <a:rPr lang="ja-JP" altLang="en-US"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</a:t>
            </a:r>
            <a:r>
              <a:rPr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 を自動生成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55280" y="3383280"/>
            <a:ext cx="320040" cy="45720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778240" y="1737360"/>
            <a:ext cx="8229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生成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1554480"/>
            <a:ext cx="338328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Noto Sans JP"/>
              </a:rPr>
              <a:t>マスタの高速生成</a:t>
            </a:r>
          </a:p>
          <a:p>
            <a:pPr algn="l">
              <a:lnSpc>
                <a:spcPct val="125000"/>
              </a:lnSpc>
            </a:pPr>
            <a:endParaRPr sz="18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仕様・コピー・価格を</a:t>
            </a:r>
            <a:r>
              <a:rPr lang="ja-JP" altLang="en-US"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チャット指示で作成</a:t>
            </a:r>
            <a:r>
              <a:rPr sz="1300" b="0">
                <a:solidFill>
                  <a:srgbClr val="111827"/>
                </a:solidFill>
                <a:latin typeface="Noto Sans JP"/>
              </a:rPr>
              <a:t>
</a:t>
            </a:r>
            <a:endParaRPr lang="en-US" sz="13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Noto Sans JP"/>
              </a:rPr>
              <a:t>「スペックちょい替え」で
実行フェーズを最短化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散乱したデータ → 構造化されたインテリジェンス → 商品マスタへ、一本の計算プロセスで接続。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5226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【価値1：収集】人間の限界を突破する、網羅的なインサイト獲得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【監視対象データソース】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199"/>
            <a:ext cx="5486400" cy="4626429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外</a:t>
            </a:r>
            <a:r>
              <a:rPr lang="ja-JP" altLang="en-US" b="1">
                <a:solidFill>
                  <a:srgbClr val="1F3A5F"/>
                </a:solidFill>
                <a:latin typeface="Noto Sans JP"/>
              </a:rPr>
              <a:t>（内）</a:t>
            </a:r>
            <a:r>
              <a:rPr b="1">
                <a:solidFill>
                  <a:srgbClr val="1F3A5F"/>
                </a:solidFill>
                <a:latin typeface="Noto Sans JP"/>
              </a:rPr>
              <a:t>部・競合動向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・トミー精工（FLS / SX シリーズ）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・平山製作所（HV シリーズ）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・ヤマト科学（SM / SQ シリーズ）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・AS ONE / AXEL </a:t>
            </a:r>
            <a:r>
              <a:rPr lang="ja-JP" altLang="en-US" sz="1600" b="0">
                <a:solidFill>
                  <a:srgbClr val="111827"/>
                </a:solidFill>
                <a:latin typeface="Noto Sans JP"/>
              </a:rPr>
              <a:t>（</a:t>
            </a:r>
            <a:r>
              <a:rPr lang="ja-JP" altLang="en-US"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オートクレープ</a:t>
            </a:r>
            <a:r>
              <a:rPr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カテゴリ</a:t>
            </a:r>
            <a:r>
              <a:rPr lang="ja-JP" altLang="en-US"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endParaRPr sz="1600" b="0">
              <a:solidFill>
                <a:srgbClr val="111827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顧客の声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・X（旧Twitter）「研究室 滅菌」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・ラボ運営ブログ・学会レポート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・ECレビュー（EC アズワン ）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市場トレンド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・学会発表（生化学会・日本ウイルス学会）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・厚労省・JIS・ISO 動向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【プラットフォームが実現すること】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ターゲットとなる競合ECやSNSから、日々生み出される顧客の声を</a:t>
            </a:r>
            <a:r>
              <a:rPr lang="ja-JP" altLang="en-US"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分析時に取り込み可能</a:t>
            </a:r>
            <a:r>
              <a:rPr sz="1600" b="0">
                <a:solidFill>
                  <a:srgbClr val="111827"/>
                </a:solidFill>
                <a:latin typeface="Noto Sans JP"/>
              </a:rPr>
              <a:t>【集約】。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788920"/>
            <a:ext cx="54864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企画者が手作業で探す時間を【ゼロ】にし、見落としていた「隠れたニーズ」や「不満」を網羅的に可視化。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069080"/>
            <a:ext cx="5486400" cy="2157548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抽出カテゴリ：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① 隠れた顧客ニーズ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② 既存商品への不満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③ 市場トレンド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アズワン × オートクレーブ市場の現状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【AXEL 現行ラインの位置づけ】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429768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・卓上型（20〜50L）：選択肢豊富、価格競争激化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・立形 中容量（100L クラス）：NB主導、PB空白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・立形 大容量（150L 〜）：高機能機の独擅場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【現状の傾向】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・アズワン PB は卓上型に集中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・立形 100L は トミー精工 / 平山 / ヤマト がシェア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・PB として参入余地のあるNB ボリュームゾーン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【PB 空白カテゴリ仮説】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仮説 A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11827"/>
                </a:solidFill>
                <a:latin typeface="Noto Sans JP"/>
              </a:rPr>
              <a:t>100L × GMP/IQ-OQ + データ可搬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（製薬・CDMO 試作ラボ向け）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971800"/>
            <a:ext cx="54864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仮説 B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11827"/>
                </a:solidFill>
                <a:latin typeface="Noto Sans JP"/>
              </a:rPr>
              <a:t>100L × 多言語UI + クラウド通知 + サブスク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（バイオベンチャー・再生医療向け）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343400"/>
            <a:ext cx="54864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仮説 C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11827"/>
                </a:solidFill>
                <a:latin typeface="Noto Sans JP"/>
              </a:rPr>
              <a:t>100L × 横置き省設置 + 消耗品同梱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（量販向け、IQ-OQ 込み総コストで -25%）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本提案では、データ駆動でこれらの仮説を検証し、勝てる地帯を特定する。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【価値2：整理】競合が気づいていない「売れる空白地帯」の科学的発見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【ポジショニング・マトリクス】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429768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2286000" y="1737360"/>
            <a:ext cx="182880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高価格 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577840"/>
            <a:ext cx="182880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▼ 低価格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10312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平山HV系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GMP/高機能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103120"/>
            <a:ext cx="1737360" cy="54864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C4763A"/>
                </a:solidFill>
                <a:latin typeface="Noto Sans JP"/>
              </a:rPr>
              <a:t>空白地帯</a:t>
            </a:r>
          </a:p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C4763A"/>
                </a:solidFill>
                <a:latin typeface="Noto Sans JP"/>
              </a:rPr>
              <a:t>IQ-OQ×中価格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475488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トミー FLS-1000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NB ボリュームゾーン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475488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ヤマトSM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汎用立形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19"/>
            <a:ext cx="5303520" cy="246599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横軸＝機能・自動化 / 縦軸＝価格帯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188720"/>
            <a:ext cx="54864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【自社POS × 外部スクレイピングの掛け合わせ】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00200"/>
            <a:ext cx="54864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自社 POS データ（内部）とスクレイピングデータ</a:t>
            </a:r>
            <a:endParaRPr lang="en-US"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（外部）を【瞬時に掛け合わせ】る。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834640"/>
            <a:ext cx="54864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膨大な情報を数分で「3C → KSF → STP → 4P → キャッチ+マスタ」の 5 段マーケティング・フレームワークへ【自動構造化】。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251960"/>
            <a:ext cx="5486400" cy="169164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競合が未参入でありながら、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顧客ニーズが存在するポジショニングを科学的に特定。</a:t>
            </a:r>
          </a:p>
          <a:p>
            <a:pPr algn="l">
              <a:lnSpc>
                <a:spcPct val="125000"/>
              </a:lnSpc>
            </a:pPr>
            <a:endParaRPr sz="1600" b="1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例：「validated 100L (IQ-OQ + データ可搬)」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※ AXELヒント源：ゼロ件検索／NB離脱／特注見積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競合TOP3 スペック比較表（ベース機種候補とのギャップ把握）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591525"/>
              </p:ext>
            </p:extLst>
          </p:nvPr>
        </p:nvGraphicFramePr>
        <p:xfrm>
          <a:off x="457200" y="118872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項目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ベース：トミー FLS-1000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平山製作所 HV シリーズ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ヤマト科学 SM シリーズ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容量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100L クラス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50〜200L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50〜120L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蓋方式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上蓋手動式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上蓋／前扉（機種別）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上蓋手動式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最高温度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135℃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135℃〜（GMP対応機あり）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135℃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排気冷却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標準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強化（短時間冷却）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機種により選択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バリデーション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限定的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C4763A"/>
                          </a:solidFill>
                          <a:latin typeface="Noto Sans JP"/>
                        </a:rPr>
                        <a:t>IQ/OQ 対応強い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一部機種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電源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三相 200V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三相 200V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単相／三相選択肢あり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本体価格レンジ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中（標準機）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高（高機能）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中〜低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強み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研究機関での実績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製薬・GMP領域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価格バランス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弱み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重い蓋、操作UIが古い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価格が高い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バリデーション弱い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※ 価格・詳細スペックは2026年5月時点の公開カタログベース。実機選定段階で各社最新見積を再収集する。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749146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9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【価値3：生成】「スペックちょい替え」から始まる高速マスタ生成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【ベース機種：トミー精工 FLS-1000】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237744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・容量：100L クラス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・蓋方式：上蓋手動式（重量あり）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・操作 UI：物理ボタン＋小型液晶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・電源：三相 200V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・バリデーション：限定的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▼ LLMによる「スペックちょい替え」提案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63440"/>
            <a:ext cx="5486400" cy="11887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C4763A"/>
                </a:solidFill>
                <a:latin typeface="Noto Sans JP"/>
              </a:rPr>
              <a:t>validated 100L（PB 仮称：IQ-OQ + データ可搬）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【変更点：3つの軸】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17614"/>
            <a:ext cx="12801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仕様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005149"/>
            <a:ext cx="5486400" cy="1197435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ターゲットに合わせた成分／形状の微調整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・IQ-OQ 文書一式同梱（QA 負担ゼロ化）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・USB/LAN データ出力 + 電子署名対応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・多言語UI（日英中韓）+ クラウド通知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322323"/>
            <a:ext cx="1508760" cy="31568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キャッチコピー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638009"/>
            <a:ext cx="5486400" cy="1025431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隠れたニーズに刺さる訴求文の自動生成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・「IQ-OQ、最初から動く 100L」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・「QA の負担を、買った瞬間に終わらせる」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4733112"/>
            <a:ext cx="12801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価格設計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5074920"/>
            <a:ext cx="5486400" cy="1034145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競合データを加味した最適プライシング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・NB 比 -5〜10%、IQ-OQ 込みで総コスト -25%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・想定価格レンジ：[要算定]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10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PB「validated 100L」想定スペック・訴求・価格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【想定スペック】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548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</a:rPr>
                        <a:t>項目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</a:rPr>
                        <a:t>想定値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容量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100L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蓋方式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763A"/>
                          </a:solidFill>
                          <a:latin typeface="Noto Sans JP"/>
                        </a:rPr>
                        <a:t>IQ-OQ 文書 同梱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投入口高さ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763A"/>
                          </a:solidFill>
                          <a:latin typeface="Noto Sans JP"/>
                        </a:rPr>
                        <a:t>USB/LAN/クラウド対応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操作UI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763A"/>
                          </a:solidFill>
                          <a:latin typeface="Noto Sans JP"/>
                        </a:rPr>
                        <a:t>21CFR Part11 電子署名対応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最高温度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135℃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電源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三相200V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排気冷却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標準（短時間モード）+ クラウド通知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多言語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日／英／中／韓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34924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【ターゲット】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5486400" cy="62657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T-A：製薬・CDMO 試作ラボ QA 担当（40代）／T-C：バイオベンチャー研究 PI（再生医療・治験原料）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【キャッチコピー候補】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486400" cy="182880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① 「IQ-OQ、最初から動く 100L」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　 ── 文書一式同梱、QA 負担をゼロ化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② 「QA の負担を、買った瞬間に終わらせる」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③ 「データは、研究室を出てクラウドへ」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61188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【プライシング戦略】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023360"/>
            <a:ext cx="54864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・想定価格：NB 比 -5〜10%（IQ-OQ込み総コストで -25%）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・GMP対応上位機（平山HV）比 -25〜35%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・NB 同等の人間工学＋IQ-OQ・データ可搬で総コスト優位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・損益分岐：[要算定／社内データで確定]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44068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【販路】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8064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・AXEL 主力カタログ＋アズワン直販ルート／製薬向け代理店経由（IQ-OQ パッケージ訴求）／消耗品サブスク同梱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11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500258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設計図：全体アーキテクチャ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43000"/>
            <a:ext cx="182880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① データ入力層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554480"/>
            <a:ext cx="3566160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3A5F"/>
                </a:solidFill>
                <a:latin typeface="Noto Sans JP"/>
              </a:rPr>
              <a:t>外部データ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827"/>
                </a:solidFill>
                <a:latin typeface="Noto Sans JP"/>
              </a:rPr>
              <a:t>・競合EC（トミー／平山／ヤマト）
・SNS（X／ラボブログ）
・学会・トレンドレポート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3566160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3A5F"/>
                </a:solidFill>
                <a:latin typeface="Noto Sans JP"/>
              </a:rPr>
              <a:t>内部データ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827"/>
                </a:solidFill>
                <a:latin typeface="Noto Sans JP"/>
              </a:rPr>
              <a:t>・AXEL POS
・会員属性
・既存商品マスタ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554480"/>
            <a:ext cx="3566160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3A5F"/>
                </a:solidFill>
                <a:latin typeface="Noto Sans JP"/>
              </a:rPr>
              <a:t>クライアント入力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827"/>
                </a:solidFill>
                <a:latin typeface="Noto Sans JP"/>
              </a:rPr>
              <a:t>・テーマ・戦略
・監視対象指定
・ベンチマークNB選定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0360"/>
            <a:ext cx="3200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② 5段エージェント・パイプライン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54680"/>
            <a:ext cx="1124712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3291840"/>
            <a:ext cx="1874519" cy="1188720"/>
          </a:xfrm>
          <a:prstGeom prst="rect">
            <a:avLst/>
          </a:prstGeom>
          <a:solidFill>
            <a:srgbClr val="FDF6EF"/>
          </a:solidFill>
          <a:ln w="1905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3C分析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レポート機能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468879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97479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KSF抽出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シニア
マーケター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571998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00598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STP策定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ブランド
コンサル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675117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03717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4P設計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プロダクト
マーケター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78236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06836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キャッチ＋マスタ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コピーライター
／PIM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292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F3A5F"/>
                </a:solidFill>
                <a:latin typeface="Noto Sans JP"/>
              </a:rPr>
              <a:t>← 各段でマーケターが Human-in-the-Loop レビュー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532120"/>
            <a:ext cx="182880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③ アウトプット層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806440"/>
            <a:ext cx="112471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4360" y="5897880"/>
            <a:ext cx="3566160" cy="5943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F3A5F"/>
                </a:solidFill>
                <a:latin typeface="Noto Sans JP"/>
              </a:rPr>
              <a:t>商品マスタCSV：JAN／品番／価格／スペック差分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5897880"/>
            <a:ext cx="3566160" cy="5943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F3A5F"/>
                </a:solidFill>
                <a:latin typeface="Noto Sans JP"/>
              </a:rPr>
              <a:t>キャッチコピー：訴求文 3〜5案＋根拠データ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5897880"/>
            <a:ext cx="3566160" cy="5943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F3A5F"/>
                </a:solidFill>
                <a:latin typeface="Noto Sans JP"/>
              </a:rPr>
              <a:t>PB企画書 HTML：3C／KSF／STP／4P／キャッチ+マスタを統合（ブラウザ印刷で PDF 化）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専門家エージェント・チェーンの内訳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84730"/>
              </p:ext>
            </p:extLst>
          </p:nvPr>
        </p:nvGraphicFramePr>
        <p:xfrm>
          <a:off x="457200" y="11887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Agent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ペルソナ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入力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タスク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アウトプット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① 3C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シニア戦略コンサル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スクレイピング結果＋POS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顧客／競合／自社を構造化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Markdown 3Cレポート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② KSF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シニアマーケター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3C＋POS＋SNS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既存NBペイン 10個＋業界KSF 3〜5個（出典付）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Markdown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③ STP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ブランドコンサル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KSF＋ペイン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自社ラインナップで空白の地帯を 3 パターン定義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ポジショニング図＋補足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④ 4P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プロダクトマーケター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STPターゲット1案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Product／Price／Place／Promotion を具体仕様まで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構造化 JSON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⑤ キャッチ＋マスタ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コピーライター兼PIM担当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4P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キャッチ 3〜5案＋商品マスタ全項目（JAN／品番／価格／スペック差分）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PIM 取込 CSV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97880"/>
            <a:ext cx="1124712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各エージェントは独立したサブエージェントとして並行・直列で実行。前段アウトプットを必須コンテキストとして次段に引き渡す。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4712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※ ペルソナごとにプロンプト・温度・トークン上限を最適化（例：3C＝事実忠実、STP＝発散重視、4P＝具体化重視）。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業務効率化の真髄：リードタイムの劇的な圧縮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109728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【旧来のPB開発：</a:t>
            </a:r>
            <a:r>
              <a:rPr lang="ja-JP" altLang="en-US" sz="1600" b="1">
                <a:solidFill>
                  <a:srgbClr val="1F3A5F"/>
                </a:solidFill>
                <a:latin typeface="Noto Sans JP"/>
              </a:rPr>
              <a:t>〇〇</a:t>
            </a:r>
            <a:r>
              <a:rPr sz="1600" b="1">
                <a:solidFill>
                  <a:srgbClr val="1F3A5F"/>
                </a:solidFill>
                <a:latin typeface="Noto Sans JP"/>
              </a:rPr>
              <a:t>ヶ月】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1ヶ月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2ヶ月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3ヶ月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4ヶ月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5ヶ月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6ヶ月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1965960"/>
            <a:ext cx="3108960" cy="54864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rIns="5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リサーチ・情報収集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965960"/>
            <a:ext cx="2194560" cy="548640"/>
          </a:xfrm>
          <a:prstGeom prst="rect">
            <a:avLst/>
          </a:prstGeom>
          <a:solidFill>
            <a:srgbClr val="3A5A85"/>
          </a:solidFill>
          <a:ln>
            <a:solidFill>
              <a:srgbClr val="3A5A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rIns="5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分析・企画立案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1965960"/>
            <a:ext cx="3108960" cy="54864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rIns="5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マスタ作成・調整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06040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→ 各工程が分断され、担当者の稼働に依存して順次進行。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37560"/>
            <a:ext cx="109728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【プラットフォーム活用：数週間】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1週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2週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3週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4週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4114800"/>
            <a:ext cx="64008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4114800"/>
            <a:ext cx="7680960" cy="54864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マーケター本来の「戦略的思考と評価」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0" y="4114800"/>
            <a:ext cx="54864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瞬時
出力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F3A5F"/>
                </a:solidFill>
                <a:latin typeface="Noto Sans JP"/>
              </a:rPr>
              <a:t>情報収集と初期案作成の時間を AI が代替することで、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浮いた時間を【単なる時短ではなく、マーケターの高度な戦略的意思決定に投資】可能。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※ アズワン社の既存PB企画フロー（典型6ヶ月）を、AI支援により 1/100〜1/1000 程度に圧縮（実証：7-10 分/案件、MVP 稼働中）。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次世代PB開発を実現する、強力な共創エコシステム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88720"/>
            <a:ext cx="54864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3A5F"/>
                </a:solidFill>
                <a:latin typeface="Noto Sans JP"/>
              </a:rPr>
              <a:t>お客様（アズワン様）の役割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ビジネス知見と戦略要件の提供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6B7280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・自社POS・会員属性データの提供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・既存商品マスタ・PB戦略の共有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・ベンチマークNB／監視競合の指定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・カテゴリ知見（オートクレーブ・ラボ機器）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・中間アウトプットへの承認・フィードバック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86400" cy="39319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3A5F"/>
                </a:solidFill>
                <a:latin typeface="Noto Sans JP"/>
              </a:rPr>
              <a:t>弊社（AKGNET）の役割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プラットフォームと技術の提供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6B7280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・スクレイピング基盤の構築・運用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・5段エージェント・パイプラインの設計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・LLM／プロンプト・チューニング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・カスタマイズ開発・継続改善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・出力の品質保証・運用支援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49240"/>
            <a:ext cx="11247120" cy="118872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本プラットフォームの価値を最大化するためには、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【高度なテクノロジー】と【お客様のビジネス知見】の融合が不可欠。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役割を明確に分担することで、単なる「ツール導入」で終わらない確実な成長を牽引します。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プロジェクトの核となる、お客様にご用意いただく「3つのインプット」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1280160"/>
            <a:ext cx="45720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テーマ・戦略の選定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・対象とする製品シリーズの決定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・注力したいカテゴリの指定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・目指すブランド方向性の定義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Noto Sans JP"/>
              </a:rPr>
              <a:t>── 本案件の例 ──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本案件の例：
「立形オートクレーブ 100L クラスを
validated 100L 訴求で PB 化」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280160"/>
            <a:ext cx="45720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18872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内部データの提供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・自社の POS・行動データ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・会員属性データ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・既存の商品マスタデータ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Noto Sans JP"/>
              </a:rPr>
              <a:t>── 本案件の例 ──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AXEL ならではの活用例：
・購買者属性（学・公・民／予算サイクル）
・バスケット（機器×消耗品の併売）
・ゼロ件検索／NB離脱／見積依頼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280160"/>
            <a:ext cx="45720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18872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外部要件の定義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・監視対象とする競合ECサイトの指定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・ベンチマークするNBの選定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Noto Sans JP"/>
              </a:rPr>
              <a:t>── 本案件の例 ──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本案件の例：
監視＝トミー精工／平山／ヤマト
ベンチマーク＝FLS-1000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3A5F"/>
                </a:solidFill>
                <a:latin typeface="Noto Sans JP"/>
              </a:rPr>
              <a:t>これら 3 つのインプットがそろい次第、初回アウトプット（3Cレポート）まで【</a:t>
            </a:r>
            <a:r>
              <a:rPr sz="1300" b="1">
                <a:solidFill>
                  <a:srgbClr val="1F3A5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最短 </a:t>
            </a:r>
            <a:r>
              <a:rPr lang="ja-JP" altLang="en-US" sz="1300" b="1">
                <a:solidFill>
                  <a:srgbClr val="1F3A5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４</a:t>
            </a:r>
            <a:r>
              <a:rPr sz="1300" b="1">
                <a:solidFill>
                  <a:srgbClr val="1F3A5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営業日</a:t>
            </a:r>
            <a:r>
              <a:rPr sz="1300" b="1">
                <a:solidFill>
                  <a:srgbClr val="1F3A5F"/>
                </a:solidFill>
                <a:latin typeface="Noto Sans JP"/>
              </a:rPr>
              <a:t>】で提示可能。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人間とAIの協調：マーケターが操縦する「Human-in-the-Loop」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【承認ゲートの配置】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420624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[3C] → ✓承認1 → [KSF] → ✓承認2 →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[STP] → ✓承認3 → [4P] → ✓承認4 →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763A"/>
                </a:solidFill>
                <a:latin typeface="Noto Sans JP"/>
              </a:rPr>
              <a:t>[キャッチ＋マスタ] → 完成</a:t>
            </a:r>
          </a:p>
          <a:p>
            <a:pPr algn="l">
              <a:lnSpc>
                <a:spcPct val="125000"/>
              </a:lnSpc>
            </a:pPr>
            <a:endParaRPr sz="1400" b="1">
              <a:solidFill>
                <a:srgbClr val="C4763A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各エージェント間で、マーケターが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763A"/>
                </a:solidFill>
                <a:latin typeface="Noto Sans JP"/>
              </a:rPr>
              <a:t>中間アウトプットをレビュー・承認。</a:t>
            </a:r>
          </a:p>
          <a:p>
            <a:pPr algn="l">
              <a:lnSpc>
                <a:spcPct val="125000"/>
              </a:lnSpc>
            </a:pPr>
            <a:endParaRPr sz="1400" b="1">
              <a:solidFill>
                <a:srgbClr val="C4763A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【承認時の操作】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・そのまま採用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・部分修正して再生成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・パラメータ調整して再実行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・差し戻し（前段に戻る）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【AI/LLM の役割】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AIは「正解」を押し付けるものではなく、極めて精度の高い「選択肢」を高速で提示するエンジン。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880360"/>
            <a:ext cx="54864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LLMが提示した分析結果やマスタに対し、マーケターが【チェック・承認】することで、企画の精度は最大化される。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160520"/>
            <a:ext cx="5486400" cy="16459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人間：戦略・創造性・最終判断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AI ：データ処理・選択肢生成・整形</a:t>
            </a:r>
          </a:p>
          <a:p>
            <a:pPr algn="l">
              <a:lnSpc>
                <a:spcPct val="125000"/>
              </a:lnSpc>
            </a:pPr>
            <a:endParaRPr sz="16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→ 属人化を解消しつつ、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   マーケターの専門性を増幅する。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弊社が提供する、強固なプラットフォームと技術支援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88720"/>
            <a:ext cx="54864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高精度なデータ収集環境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指定された競合ECやSNSから、サイトの仕様変更にも耐えうる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763A"/>
                </a:solidFill>
                <a:latin typeface="Noto Sans JP"/>
              </a:rPr>
              <a:t>【高精度かつ安定したデータ取得環境】を構築・運用。</a:t>
            </a:r>
          </a:p>
          <a:p>
            <a:pPr algn="l">
              <a:lnSpc>
                <a:spcPct val="125000"/>
              </a:lnSpc>
            </a:pPr>
            <a:endParaRPr sz="1400" b="1">
              <a:solidFill>
                <a:srgbClr val="C4763A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・競合EC スクレイパー（トミー／平山／ヤマト）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・SNS 監視（X／RSS／ブログ）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・構造変化の自動検知・補修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864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一気通貫の AI モデル提供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情報収集から 3C → KSF → STP → 4P → キャッチ+マスタ までを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763A"/>
                </a:solidFill>
                <a:latin typeface="Noto Sans JP"/>
              </a:rPr>
              <a:t>途切れることなく繋ぐ【専用 LLM 基盤】の提供と、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貴社の業務要件に合わせたカスタマイズ支援。</a:t>
            </a:r>
          </a:p>
          <a:p>
            <a:pPr algn="l">
              <a:lnSpc>
                <a:spcPct val="125000"/>
              </a:lnSpc>
            </a:pPr>
            <a:endParaRPr sz="14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・ペルソナ別プロンプト最適化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・アズワン PB 文脈への継続学習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11247120" cy="219456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サブエージェント分散実行基盤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5段のエージェントを【独立サブエージェント】として並行・直列で実行管理。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前段アウトプットを次段に必須コンテキストとして引き渡し、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トレーサビリティを保ったまま柔軟に再実行・差し戻しが可能。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F3A5F"/>
                </a:solidFill>
                <a:latin typeface="Noto Sans JP"/>
              </a:rPr>
              <a:t>データの力と人間の知見が交差する、</a:t>
            </a:r>
          </a:p>
          <a:p>
            <a:pPr algn="l">
              <a:lnSpc>
                <a:spcPct val="130000"/>
              </a:lnSpc>
            </a:pPr>
            <a:r>
              <a:rPr sz="3200" b="1">
                <a:solidFill>
                  <a:srgbClr val="1F3A5F"/>
                </a:solidFill>
                <a:latin typeface="Noto Sans JP"/>
              </a:rPr>
              <a:t>新しい PB 開発のスタンダード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515600" cy="1159028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もはやPB開発は、直感と手作業の消耗戦ではありません。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テクノロジーが情報の海から正解への道筋を導き出し、マーケターの創造性がそれに命を吹き込む。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ヒット確率を科学的に高め、ビジネスの確実な成長を牽引する次世代のプロセスを、共に築き上げましょう。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5156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Next Action ─ 直近3ステップ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17922"/>
              </p:ext>
            </p:extLst>
          </p:nvPr>
        </p:nvGraphicFramePr>
        <p:xfrm>
          <a:off x="914400" y="4206240"/>
          <a:ext cx="10515600" cy="1775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9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4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JP"/>
                        </a:rPr>
                        <a:t>#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JP"/>
                        </a:rPr>
                        <a:t>アクション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JP"/>
                        </a:rPr>
                        <a:t>想定タイミング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①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PoC 範囲合意（対象カテゴリ・成功定義）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〜2週間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②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データ提供（POS・既存マスタ・監視対象）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〜4週間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③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キックオフ／3Cレポート初回出力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〜1週間（MVP 稼働中、既存環境に接続のみ）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14400" y="6126480"/>
            <a:ext cx="1051560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6263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Noto Sans JP"/>
              </a:rPr>
              <a:t>AKGNET</a:t>
            </a:r>
            <a:r>
              <a:rPr sz="1200" b="0">
                <a:solidFill>
                  <a:srgbClr val="6B7280"/>
                </a:solidFill>
                <a:latin typeface="Noto Sans JP"/>
              </a:rPr>
              <a:t>｜担当：岩下｜daruma0411@gmail.com｜2026年5月14日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Noto Sans JP"/>
              </a:rPr>
              <a:t>19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Noto Sans JP"/>
              </a:rPr>
              <a:t>事実に立脚するレポートを担保する「多層ガード」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JP"/>
              </a:rPr>
              <a:t>【主軸】一次情報のスクレイピング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669280" cy="2055947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Noto Sans JP"/>
              </a:rPr>
              <a:t>・自社（AS ONE / ナビス AXEL）：25 機種</a:t>
            </a:r>
          </a:p>
          <a:p>
            <a:r>
              <a:rPr sz="1600" b="0">
                <a:solidFill>
                  <a:srgbClr val="111827"/>
                </a:solidFill>
                <a:latin typeface="Noto Sans JP"/>
              </a:rPr>
              <a:t>・製造パートナー（トミー精工）：12 機種</a:t>
            </a:r>
          </a:p>
          <a:p>
            <a:r>
              <a:rPr sz="1600" b="0">
                <a:solidFill>
                  <a:srgbClr val="111827"/>
                </a:solidFill>
                <a:latin typeface="Noto Sans JP"/>
              </a:rPr>
              <a:t>・競合（ヤマト科学／平山製作所／アルプ）：64 機種</a:t>
            </a:r>
          </a:p>
          <a:p>
            <a:r>
              <a:rPr sz="1600" b="1">
                <a:solidFill>
                  <a:srgbClr val="C4763A"/>
                </a:solidFill>
                <a:latin typeface="Noto Sans JP"/>
              </a:rPr>
              <a:t>─ 合計 101 件、価格・型番・スペック・URL を実在ベースで保持 ─</a:t>
            </a:r>
          </a:p>
          <a:p>
            <a:endParaRPr sz="1600" b="1">
              <a:solidFill>
                <a:srgbClr val="C4763A"/>
              </a:solidFill>
              <a:latin typeface="Noto Sans JP"/>
            </a:endParaRP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→ TOP 機種スペック比較表・価格対決・共食い検証は</a:t>
            </a:r>
          </a:p>
          <a:p>
            <a:r>
              <a:rPr sz="1400" b="1">
                <a:solidFill>
                  <a:srgbClr val="1F3A5F"/>
                </a:solidFill>
                <a:latin typeface="Noto Sans JP"/>
              </a:rPr>
              <a:t>  この実 DB から引用、ハルシネーション余地ゼロ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JP"/>
              </a:rPr>
              <a:t>【プロンプト】Claude への 4 つの厳格指示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5669280" cy="1348061"/>
          </a:xfrm>
          <a:prstGeom prst="rect">
            <a:avLst/>
          </a:prstGeom>
          <a:solidFill>
            <a:srgbClr val="FDF6EF"/>
          </a:solidFill>
          <a:ln w="9525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Noto Sans JP"/>
              </a:rPr>
              <a:t>① 「ハルシネーション厳禁」明示</a:t>
            </a:r>
          </a:p>
          <a:p>
            <a:r>
              <a:rPr sz="1600" b="1">
                <a:solidFill>
                  <a:srgbClr val="111827"/>
                </a:solidFill>
                <a:latin typeface="Noto Sans JP"/>
              </a:rPr>
              <a:t>② 「データに記載なし」を許容＋明記必須</a:t>
            </a:r>
          </a:p>
          <a:p>
            <a:r>
              <a:rPr sz="1600" b="1">
                <a:solidFill>
                  <a:srgbClr val="111827"/>
                </a:solidFill>
                <a:latin typeface="Noto Sans JP"/>
              </a:rPr>
              <a:t>③ 各事実に出典セクション付与</a:t>
            </a:r>
          </a:p>
          <a:p>
            <a:r>
              <a:rPr sz="1400" b="0">
                <a:solidFill>
                  <a:srgbClr val="6B7280"/>
                </a:solidFill>
                <a:latin typeface="Noto Sans JP"/>
              </a:rPr>
              <a:t>　（3C／POS／SNS／競合 のいずれか）</a:t>
            </a:r>
          </a:p>
          <a:p>
            <a:r>
              <a:rPr sz="1600" b="1">
                <a:solidFill>
                  <a:srgbClr val="111827"/>
                </a:solidFill>
                <a:latin typeface="Noto Sans JP"/>
              </a:rPr>
              <a:t>④ 訓練データ由来は「推計／推定」と自己ラベリング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0690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JP"/>
              </a:rPr>
              <a:t>【パイプライン構造】各 phase が前段レポートを必須引用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526280"/>
            <a:ext cx="2194560" cy="963341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oto Sans JP"/>
              </a:rPr>
              <a:t>① 3C
（事実忠実）</a:t>
            </a:r>
          </a:p>
          <a:p>
            <a:endParaRPr sz="1400" b="1">
              <a:solidFill>
                <a:srgbClr val="FFFFFF"/>
              </a:solidFill>
              <a:latin typeface="Noto Sans JP"/>
            </a:endParaRPr>
          </a:p>
          <a:p>
            <a:r>
              <a:rPr sz="1050" b="0">
                <a:solidFill>
                  <a:srgbClr val="FFFFFF"/>
                </a:solidFill>
                <a:latin typeface="Noto Sans JP"/>
              </a:rPr>
              <a:t>スクレイピング DB を一次引用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4526280"/>
            <a:ext cx="2194560" cy="963341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oto Sans JP"/>
              </a:rPr>
              <a:t>② KSF
（出典必須）</a:t>
            </a:r>
          </a:p>
          <a:p>
            <a:endParaRPr sz="1400" b="1">
              <a:solidFill>
                <a:srgbClr val="FFFFFF"/>
              </a:solidFill>
              <a:latin typeface="Noto Sans JP"/>
            </a:endParaRPr>
          </a:p>
          <a:p>
            <a:r>
              <a:rPr sz="1050" b="0">
                <a:solidFill>
                  <a:srgbClr val="FFFFFF"/>
                </a:solidFill>
                <a:latin typeface="Noto Sans JP"/>
              </a:rPr>
              <a:t>3C＋POS＋SNS から帰納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526280"/>
            <a:ext cx="2194560" cy="963341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oto Sans JP"/>
              </a:rPr>
              <a:t>③ STP
（KSF 駆動）</a:t>
            </a:r>
          </a:p>
          <a:p>
            <a:endParaRPr sz="1400" b="1">
              <a:solidFill>
                <a:srgbClr val="FFFFFF"/>
              </a:solidFill>
              <a:latin typeface="Noto Sans JP"/>
            </a:endParaRPr>
          </a:p>
          <a:p>
            <a:r>
              <a:rPr sz="1050" b="0">
                <a:solidFill>
                  <a:srgbClr val="FFFFFF"/>
                </a:solidFill>
                <a:latin typeface="Noto Sans JP"/>
              </a:rPr>
              <a:t>KSF を根拠にセグメント定義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4526280"/>
            <a:ext cx="2194560" cy="963341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oto Sans JP"/>
              </a:rPr>
              <a:t>④ 4P
（STP 駆動）</a:t>
            </a:r>
          </a:p>
          <a:p>
            <a:endParaRPr sz="1400" b="1">
              <a:solidFill>
                <a:srgbClr val="FFFFFF"/>
              </a:solidFill>
              <a:latin typeface="Noto Sans JP"/>
            </a:endParaRPr>
          </a:p>
          <a:p>
            <a:r>
              <a:rPr sz="1050" b="0">
                <a:solidFill>
                  <a:srgbClr val="FFFFFF"/>
                </a:solidFill>
                <a:latin typeface="Noto Sans JP"/>
              </a:rPr>
              <a:t>STP のターゲットを実行戦術化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4526280"/>
            <a:ext cx="2194560" cy="963341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oto Sans JP"/>
              </a:rPr>
              <a:t>⑤ キャッチ
＋マスタ</a:t>
            </a:r>
          </a:p>
          <a:p>
            <a:endParaRPr sz="1400" b="1">
              <a:solidFill>
                <a:srgbClr val="FFFFFF"/>
              </a:solidFill>
              <a:latin typeface="Noto Sans JP"/>
            </a:endParaRPr>
          </a:p>
          <a:p>
            <a:r>
              <a:rPr sz="1050" b="0">
                <a:solidFill>
                  <a:srgbClr val="FFFFFF"/>
                </a:solidFill>
                <a:latin typeface="Noto Sans JP"/>
              </a:rPr>
              <a:t>全段の論理連鎖を集約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806440"/>
            <a:ext cx="11430000" cy="547842"/>
          </a:xfrm>
          <a:prstGeom prst="rect">
            <a:avLst/>
          </a:prstGeom>
          <a:solidFill>
            <a:srgbClr val="F5F6F8"/>
          </a:solidFill>
          <a:ln w="6350">
            <a:solidFill>
              <a:srgbClr val="6B7280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Noto Sans JP"/>
              </a:rPr>
              <a:t>【さらに強化するロードマップ】</a:t>
            </a:r>
          </a:p>
          <a:p>
            <a:r>
              <a:rPr sz="1200" b="0">
                <a:solidFill>
                  <a:srgbClr val="111827"/>
                </a:solidFill>
                <a:latin typeface="Noto Sans JP"/>
              </a:rPr>
              <a:t>行レベル出典トラッキング（クリック→ raw data へジャンプ） ／ Web 検索 API 接続でファクト強化 ／ ファクトチェック専用エージェント追加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Noto Sans JP"/>
              </a:rPr>
              <a:t>20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Noto Sans JP"/>
              </a:rPr>
              <a:t>レポート完成後の壁打ち：統括エージェントとの対話モード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1584" y="1371600"/>
            <a:ext cx="5029200" cy="3200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Noto Sans JP"/>
              </a:rPr>
              <a:t>【仕組み】統括エージェントが全コンテキストを把握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029200" cy="347172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Noto Sans JP"/>
              </a:rPr>
              <a:t>案件詳細画面に常設のチャット UI を配置。</a:t>
            </a:r>
          </a:p>
          <a:p>
            <a:r>
              <a:rPr sz="1600" b="0">
                <a:solidFill>
                  <a:srgbClr val="111827"/>
                </a:solidFill>
                <a:latin typeface="Noto Sans JP"/>
              </a:rPr>
              <a:t>統括コンサルタント AI が以下をすべて把握:</a:t>
            </a:r>
          </a:p>
          <a:p>
            <a:endParaRPr sz="1600" b="0">
              <a:solidFill>
                <a:srgbClr val="111827"/>
              </a:solidFill>
              <a:latin typeface="Noto Sans JP"/>
            </a:endParaRP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・案件メタ（カテゴリ・PB コンセプト・ベース機種）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・スクレイピング 101 件の生データ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・POS / SNS の手入力サマリ</a:t>
            </a:r>
          </a:p>
          <a:p>
            <a:r>
              <a:rPr sz="1400" b="1">
                <a:solidFill>
                  <a:srgbClr val="C4763A"/>
                </a:solidFill>
                <a:latin typeface="Noto Sans JP"/>
              </a:rPr>
              <a:t>・5 フェーズ全レポート Markdown 全文</a:t>
            </a:r>
          </a:p>
          <a:p>
            <a:endParaRPr sz="1400" b="1">
              <a:solidFill>
                <a:srgbClr val="C4763A"/>
              </a:solidFill>
              <a:latin typeface="Noto Sans JP"/>
            </a:endParaRPr>
          </a:p>
          <a:p>
            <a:r>
              <a:rPr sz="1400" b="1">
                <a:solidFill>
                  <a:srgbClr val="1F3A5F"/>
                </a:solidFill>
                <a:latin typeface="Noto Sans JP"/>
              </a:rPr>
              <a:t>→ 「あの数値の出典は？」「あの軸で再検討して」</a:t>
            </a:r>
          </a:p>
          <a:p>
            <a:r>
              <a:rPr sz="1400" b="1">
                <a:solidFill>
                  <a:srgbClr val="1F3A5F"/>
                </a:solidFill>
                <a:latin typeface="Noto Sans JP"/>
              </a:rPr>
              <a:t>　 のような対話的ブラッシュアップが可能</a:t>
            </a:r>
          </a:p>
          <a:p>
            <a:endParaRPr sz="1400" b="1">
              <a:solidFill>
                <a:srgbClr val="1F3A5F"/>
              </a:solidFill>
              <a:latin typeface="Noto Sans JP"/>
            </a:endParaRPr>
          </a:p>
          <a:p>
            <a:r>
              <a:rPr sz="1400" b="1">
                <a:solidFill>
                  <a:srgbClr val="1F3A5F"/>
                </a:solidFill>
                <a:latin typeface="Noto Sans JP"/>
              </a:rPr>
              <a:t>【履歴】案件単位で永続化、いつでも会話を再開</a:t>
            </a:r>
          </a:p>
          <a:p>
            <a:endParaRPr sz="1400" b="1">
              <a:solidFill>
                <a:srgbClr val="1F3A5F"/>
              </a:solidFill>
              <a:latin typeface="Noto Sans JP"/>
            </a:endParaRP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【ルール】レポート未記載は「データに記載なし」と返答、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　 ハルシネーション抑止は生成時と同等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3666" y="1371600"/>
            <a:ext cx="6309360" cy="3200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Noto Sans JP"/>
              </a:rPr>
              <a:t>【ユースケース】よくある質問・指示パターン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783080"/>
            <a:ext cx="6309360" cy="824841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b="1">
                <a:solidFill>
                  <a:srgbClr val="C4763A"/>
                </a:solidFill>
                <a:latin typeface="Noto Sans JP"/>
              </a:rPr>
              <a:t>🔍 ファクト確認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Q：「Customer 1-1 の市場規模 12,000 台の出典は？」</a:t>
            </a:r>
          </a:p>
          <a:p>
            <a:r>
              <a:rPr sz="1200" b="0">
                <a:solidFill>
                  <a:srgbClr val="6B7280"/>
                </a:solidFill>
                <a:latin typeface="Noto Sans JP"/>
              </a:rPr>
              <a:t>A：スクレイピング DB か手入力サマリか訓練データ由来かを明示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670048"/>
            <a:ext cx="6309360" cy="824841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b="1">
                <a:solidFill>
                  <a:srgbClr val="C4763A"/>
                </a:solidFill>
                <a:latin typeface="Noto Sans JP"/>
              </a:rPr>
              <a:t>📊 根拠掘り下げ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Q：「KSF #3 のペイン強度『高』の判定根拠は？」</a:t>
            </a:r>
          </a:p>
          <a:p>
            <a:r>
              <a:rPr sz="1200" b="0">
                <a:solidFill>
                  <a:srgbClr val="6B7280"/>
                </a:solidFill>
                <a:latin typeface="Noto Sans JP"/>
              </a:rPr>
              <a:t>A：該当データ出典＋類似事例の参照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3557016"/>
            <a:ext cx="6309360" cy="824841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b="1">
                <a:solidFill>
                  <a:srgbClr val="C4763A"/>
                </a:solidFill>
                <a:latin typeface="Noto Sans JP"/>
              </a:rPr>
              <a:t>♻️ 軸変更・再生成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Q：「STP の T1 ターゲット、価格軸 → 購買サイクル軸で再検討して」</a:t>
            </a:r>
          </a:p>
          <a:p>
            <a:r>
              <a:rPr sz="1200" b="0">
                <a:solidFill>
                  <a:srgbClr val="6B7280"/>
                </a:solidFill>
                <a:latin typeface="Noto Sans JP"/>
              </a:rPr>
              <a:t>A：該当 phase の再生成を提案＋実行（next phase）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4443984"/>
            <a:ext cx="6309360" cy="824841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b="1">
                <a:solidFill>
                  <a:srgbClr val="C4763A"/>
                </a:solidFill>
                <a:latin typeface="Noto Sans JP"/>
              </a:rPr>
              <a:t>✂️ コピー調整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Q：「キャッチ C2 を 30 文字以内に短縮、女性向け強調」</a:t>
            </a:r>
          </a:p>
          <a:p>
            <a:r>
              <a:rPr sz="1200" b="0">
                <a:solidFill>
                  <a:srgbClr val="6B7280"/>
                </a:solidFill>
                <a:latin typeface="Noto Sans JP"/>
              </a:rPr>
              <a:t>A：4P の訴求軸を維持しつつ短縮案を 3 つ提示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5330952"/>
            <a:ext cx="6309360" cy="824841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b="1">
                <a:solidFill>
                  <a:srgbClr val="C4763A"/>
                </a:solidFill>
                <a:latin typeface="Noto Sans JP"/>
              </a:rPr>
              <a:t>📄 アウトプット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Q：「上長会議用に 1 ページサマリを Word で出力」</a:t>
            </a:r>
          </a:p>
          <a:p>
            <a:r>
              <a:rPr sz="1200" b="0">
                <a:solidFill>
                  <a:srgbClr val="6B7280"/>
                </a:solidFill>
                <a:latin typeface="Noto Sans JP"/>
              </a:rPr>
              <a:t>A：PIM/PPTX/Word 自動生成（既存ツール連動）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49543"/>
            <a:ext cx="11430000" cy="393954"/>
          </a:xfrm>
          <a:prstGeom prst="rect">
            <a:avLst/>
          </a:prstGeom>
          <a:solidFill>
            <a:srgbClr val="1F3A5F"/>
          </a:solidFill>
          <a:ln w="635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Noto Sans JP"/>
              </a:rPr>
              <a:t>一発生成 × 対話的ブラッシュアップ ＝ 担当者の「考える時間」を最大化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2598</Words>
  <Application>Microsoft Office PowerPoint</Application>
  <PresentationFormat>ワイド画面</PresentationFormat>
  <Paragraphs>556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5" baseType="lpstr">
      <vt:lpstr>BIZ UDPゴシック</vt:lpstr>
      <vt:lpstr>Noto Sans JP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岩下 春樹</cp:lastModifiedBy>
  <cp:revision>3</cp:revision>
  <dcterms:created xsi:type="dcterms:W3CDTF">2013-01-27T09:14:16Z</dcterms:created>
  <dcterms:modified xsi:type="dcterms:W3CDTF">2026-05-14T08:42:59Z</dcterms:modified>
  <cp:category/>
</cp:coreProperties>
</file>