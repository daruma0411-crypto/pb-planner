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44" y="-15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2E240-0D99-4251-9DB0-79EFD1B8E40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DAC5E-E680-470D-A8EB-4FE189D8D5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098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【V6 修正の背景】</a:t>
            </a:r>
          </a:p>
          <a:p>
            <a:r>
              <a:t>当初の仮説「100L × 人間工学（woman-friendly）」は、ベース機種候補のトミー精工 FLS-1000 が既に NB として「女性ユーザー着目・片手開閉アシスト・ローテーブル79cm設計」を訴求済みであることが判明。</a:t>
            </a:r>
          </a:p>
          <a:p>
            <a:r>
              <a:t>そのため、PB の独自差別化軸を「FLS-1000 の弱点補強」軸に再設計した。</a:t>
            </a:r>
          </a:p>
          <a:p>
            <a:r>
              <a:t>- 仮説 A: GMP/IQ-OQ + USB/LAN データ可搬（製薬・CDMO 試作ラボ向け）</a:t>
            </a:r>
          </a:p>
          <a:p>
            <a:r>
              <a:t>- 仮説 B: 多言語UI + クラウド通知 + サブスク（バイオベンチャー/再生医療向け）</a:t>
            </a:r>
          </a:p>
          <a:p>
            <a:r>
              <a:t>- 仮説 C: 横置き省設置 + 消耗品同梱（量販向け）</a:t>
            </a:r>
          </a:p>
          <a:p>
            <a:r>
              <a:t>woman-friendly 軸は NB が占有、PB は継承するが独自軸にしない。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【V6 修正】ポジショニング・マトリクスの空白地帯を「IQ-OQ × 中価格」に再定義。</a:t>
            </a:r>
          </a:p>
          <a:p>
            <a:r>
              <a:t>新 STP レポートの軸：</a:t>
            </a:r>
          </a:p>
          <a:p>
            <a:r>
              <a:t>- 軸X：滅菌記録の外部要件強度（IQ-OQ／GMP）</a:t>
            </a:r>
          </a:p>
          <a:p>
            <a:r>
              <a:t>- 軸Y：ハード単価感度 × 消耗品月次回転</a:t>
            </a:r>
          </a:p>
          <a:p>
            <a:r>
              <a:t>優先ターゲット T-A（製薬 CDMO 試作）、T-C（バイオベンチャー）は NB 全社が現状 satisfy していない空白地帯。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【V6 修正】PB 仮称を「validated 100L」に変更。</a:t>
            </a:r>
          </a:p>
          <a:p>
            <a:r>
              <a:t>NB（FLS-1000）の人間工学訴求は維持しつつ、PB の独自軸として以下を加算：</a:t>
            </a:r>
          </a:p>
          <a:p>
            <a:r>
              <a:t>1. IQ-OQ 文書一式同梱（業界全社が現状未訴求）</a:t>
            </a:r>
          </a:p>
          <a:p>
            <a:r>
              <a:t>2. USB/LAN データ可搬 + 電子署名（21CFR Part11 対応）</a:t>
            </a:r>
          </a:p>
          <a:p>
            <a:r>
              <a:t>3. 多言語 UI + クラウド通知</a:t>
            </a:r>
          </a:p>
          <a:p>
            <a:r>
              <a:t>4. NB 比 -5〜10% 価格、IQ-OQ 込み総コストで -25%</a:t>
            </a:r>
          </a:p>
          <a:p>
            <a:r>
              <a:t>キャッチコピーも NB 軸（woman-friendly）の言い換えから、IQ-OQ・データ可搬・クラウド連動の文脈に刷新。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【V6 修正】想定スペック・キャッチ・価格・ターゲット・販路を新軸で再設計。</a:t>
            </a:r>
          </a:p>
          <a:p>
            <a:r>
              <a:t>ターゲット T-A：製薬・CDMO 試作ラボの QA 担当（40代、IQ-OQ × データ可搬を重視）</a:t>
            </a:r>
          </a:p>
          <a:p>
            <a:r>
              <a:t>ターゲット T-C：バイオベンチャー研究 PI（多言語 + クラウド + サブスクで未開拓層を取りに行く）</a:t>
            </a:r>
          </a:p>
          <a:p>
            <a:r>
              <a:t>T-B（大学）は NB 競合度が高い（hirayama HV-110Ⅱ ¥990,000、yamato HVA-110LB ¥742,000）ため優先度を下げる。</a:t>
            </a:r>
          </a:p>
          <a:p>
            <a:r>
              <a:t>詳細は新 STP/4P/Finish レポート参照（HTML 別添）。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商品化まで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</a:t>
            </a:r>
            <a:r>
              <a:rPr lang="ja-JP" altLang="en-US" sz="16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  <a:r>
              <a:rPr lang="ja-JP" altLang="en-US" b="1">
                <a:solidFill>
                  <a:srgbClr val="C4763A"/>
                </a:solidFill>
                <a:latin typeface="Noto Sans JP"/>
              </a:rPr>
              <a:t>？？？</a:t>
            </a:r>
            <a:endParaRPr b="1">
              <a:solidFill>
                <a:srgbClr val="C4763A"/>
              </a:solidFill>
              <a:latin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51311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正規化できていない</a:t>
            </a:r>
            <a:r>
              <a:rPr b="0">
                <a:solidFill>
                  <a:srgbClr val="111827"/>
                </a:solidFill>
                <a:latin typeface="Noto Sans JP"/>
              </a:rPr>
              <a:t>、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また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や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POS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・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SNS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為、分析材料がそろっていない状況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2969623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  <a:endParaRPr lang="en-US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lang="ja-JP" altLang="en-US">
                <a:solidFill>
                  <a:srgbClr val="111827"/>
                </a:solidFill>
                <a:latin typeface="Noto Sans JP"/>
              </a:rPr>
              <a:t>また、売れそうな商品と手ごたえはあるが、根拠を示しきれていない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4669972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まで役割として担うべきところ、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がサポートしている状況。結果的にすり合わせ・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工数が増加。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09468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〇〇日～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、口コミ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PF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3C → KSF → STP → 4P → キャッチ+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 を自動生成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</a:t>
            </a:r>
            <a:endParaRPr lang="en-US" sz="13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5226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</a:t>
            </a:r>
            <a:r>
              <a:rPr lang="ja-JP" altLang="en-US" b="1">
                <a:solidFill>
                  <a:srgbClr val="1F3A5F"/>
                </a:solidFill>
                <a:latin typeface="Noto Sans JP"/>
              </a:rPr>
              <a:t>（内）</a:t>
            </a:r>
            <a:r>
              <a:rPr b="1">
                <a:solidFill>
                  <a:srgbClr val="1F3A5F"/>
                </a:solidFill>
                <a:latin typeface="Noto Sans JP"/>
              </a:rPr>
              <a:t>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ターゲットとなる競合ECやSNSから、日々生み出される顧客の声を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分析時に取り込み可能</a:t>
            </a:r>
            <a:r>
              <a:rPr sz="1600" b="0">
                <a:solidFill>
                  <a:srgbClr val="111827"/>
                </a:solidFill>
                <a:latin typeface="Noto Sans JP"/>
              </a:rPr>
              <a:t>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として参入余地のあるNB 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GMP/IQ-OQ + データ可搬（※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（製薬・CDMO 試作ラボ向け）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多言語UI + クラウド通知 + サブスク（※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（バイオベンチャー・再生医療向け）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横置き省設置 + 消耗品同梱（※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（量販向け、IQ-OQ 込み総コストで -25%）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IQ-OQ×中価格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NB 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データ（内部・実 PoC データ／本提案書はサンプル）とスクレイピングデータ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例：「validated 100L (IQ-OQ + データ可搬)」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validated 100L（PB 仮称：IQ-OQ + データ可搬）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・IQ-OQ 文書一式同梱（QA 負担ゼロ化）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・USB/LAN データ出力 + 電子署名対応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・多言語UI（日英中韓）+ クラウド通知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・「QA の負担を、買った瞬間に終わらせる」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-5〜10%、IQ-OQ 込みで総コスト -25%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PB「validated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IQ-OQ 文書 同梱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USB/LAN/クラウド対応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21CFR Part11 電子署名対応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標準（短時間モード）+ クラウド通知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T-A：製薬・CDMO 試作ラボ QA 担当（40代）／T-C：バイオベンチャー研究 PI（再生医療・治験原料）　※ ターゲット像はサンプル、実 PoC では貴社実 POS で再定義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文書一式同梱、QA 負担をゼロ化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「QA の負担を、買った瞬間に終わらせる」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「データは、研究室を出てクラウドへ」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 比 -5〜10%（IQ-OQ込み総コストで -25%）（※ サンプル試算）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・GMP対応上位機（平山HV）比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同等の人間工学＋IQ-OQ・データ可搬で総コスト優位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主力カタログ＋アズワン直販ルート／製薬向け代理店経由（IQ-OQ パッケージ訴求）／消耗品サブスク同梱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</a:t>
            </a:r>
            <a:r>
              <a:rPr lang="ja-JP" altLang="en-US" sz="1600" b="1">
                <a:solidFill>
                  <a:srgbClr val="1F3A5F"/>
                </a:solidFill>
                <a:latin typeface="Noto Sans JP"/>
              </a:rPr>
              <a:t>〇〇</a:t>
            </a:r>
            <a:r>
              <a:rPr sz="1600" b="1">
                <a:solidFill>
                  <a:srgbClr val="1F3A5F"/>
                </a:solidFill>
                <a:latin typeface="Noto Sans JP"/>
              </a:rPr>
              <a:t>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
※ 本提案書の数値は PoC 想定サンプル、実投入後は貴社実データで再生成。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validated 100L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最短 </a:t>
            </a:r>
            <a:r>
              <a:rPr lang="ja-JP" altLang="en-US"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営業日</a:t>
            </a:r>
            <a:r>
              <a:rPr sz="1300" b="1">
                <a:solidFill>
                  <a:srgbClr val="1F3A5F"/>
                </a:solidFill>
                <a:latin typeface="Noto Sans JP"/>
              </a:rPr>
              <a:t>】で提示可能。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14933"/>
              </p:ext>
            </p:extLst>
          </p:nvPr>
        </p:nvGraphicFramePr>
        <p:xfrm>
          <a:off x="914400" y="4206240"/>
          <a:ext cx="10515600" cy="177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〜1</a:t>
                      </a:r>
                      <a:r>
                        <a:rPr lang="ja-JP" altLang="en-US"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週間</a:t>
                      </a:r>
                      <a:endParaRPr sz="1400" b="0">
                        <a:solidFill>
                          <a:srgbClr val="111827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3Cレポート初回出力</a:t>
                      </a:r>
                      <a:r>
                        <a:rPr lang="ja-JP" altLang="en-US"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～仕様変更</a:t>
                      </a:r>
                      <a:endParaRPr sz="1400" b="0">
                        <a:solidFill>
                          <a:srgbClr val="111827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〜1週間（MVP 稼働中、</a:t>
                      </a:r>
                      <a:r>
                        <a:rPr lang="ja-JP" altLang="en-US"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修正要望に応じてプロダクト見直し期間</a:t>
                      </a:r>
                      <a:r>
                        <a:rPr sz="14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事実に立脚するレポートを担保する「多層ガード」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【主軸】一次情報のスクレイピング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055947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・自社（AS ONE / ナビス AXEL）：25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・製造パートナー（トミー精工）：12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・競合（ヤマト科学／平山製作所／アルプ）：64 機種</a:t>
            </a:r>
          </a:p>
          <a:p>
            <a:r>
              <a:rPr sz="1600" b="1">
                <a:solidFill>
                  <a:srgbClr val="C4763A"/>
                </a:solidFill>
                <a:latin typeface="Noto Sans JP"/>
              </a:rPr>
              <a:t>─ 合計 101 件、価格・型番・スペック・URL を実在ベースで保持 ─</a:t>
            </a:r>
          </a:p>
          <a:p>
            <a:endParaRPr sz="1600" b="1">
              <a:solidFill>
                <a:srgbClr val="C4763A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→ TOP 機種スペック比較表・価格対決・共食い検証は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  この実 DB から引用、ハルシネーション余地ゼロ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【プロンプト】Claude への 4 つの厳格指示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1348061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① 「ハルシネーション厳禁」明示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② 「データに記載なし」を許容＋明記必須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③ 各事実に出典セクション付与</a:t>
            </a: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　（3C／POS／SNS／競合 のいずれか）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④ 訓練データ由来は「推計／推定」と自己ラベリング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【パイプライン構造】各 phase が前段レポートを必須引用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① 3C
（事実忠実）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スクレイピング DB を一次引用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② KSF
（出典必須）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3C＋POS＋SNS から帰納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③ STP
（KSF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KSF を根拠にセグメント定義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④ 4P
（STP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STP のターゲットを実行戦術化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⑤ キャッチ
＋マスタ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全段の論理連鎖を集約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547842"/>
          </a:xfrm>
          <a:prstGeom prst="rect">
            <a:avLst/>
          </a:prstGeom>
          <a:solidFill>
            <a:srgbClr val="F5F6F8"/>
          </a:solidFill>
          <a:ln w="6350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【さらに強化するロードマップ】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行レベル出典トラッキング（クリック→ raw data へジャンプ） ／ Web 検索 API 接続でファクト強化 ／ ファクトチェック専用エージェント追加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レポート完成後の壁打ち：統括エージェントとの対話モード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584" y="1371600"/>
            <a:ext cx="502920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【仕組み】統括エージェントが全コンテキストを把握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029200" cy="3471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Noto Sans JP"/>
              </a:rPr>
              <a:t>案件詳細画面に常設のチャット UI を配置。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統括コンサルタント AI が以下をすべて把握:</a:t>
            </a:r>
          </a:p>
          <a:p>
            <a:endParaRPr sz="1600" b="0">
              <a:solidFill>
                <a:srgbClr val="111827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・案件メタ（カテゴリ・PB コンセプト・ベース機種）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・スクレイピング 101 件の生データ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・POS / SNS の手入力サマリ</a:t>
            </a:r>
          </a:p>
          <a:p>
            <a:r>
              <a:rPr sz="1400" b="1">
                <a:solidFill>
                  <a:srgbClr val="C4763A"/>
                </a:solidFill>
                <a:latin typeface="Noto Sans JP"/>
              </a:rPr>
              <a:t>・5 フェーズ全レポート Markdown 全文</a:t>
            </a:r>
          </a:p>
          <a:p>
            <a:endParaRPr sz="1400" b="1">
              <a:solidFill>
                <a:srgbClr val="C4763A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→ 「あの数値の出典は？」「あの軸で再検討して」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　 のような対話的ブラッシュアップが可能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【履歴】案件単位で永続化、いつでも会話を再開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【ルール】レポート未記載は「データに記載なし」と返答、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　 ハルシネーション抑止は生成時と同等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3666" y="1371600"/>
            <a:ext cx="630936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【ユースケース】よくある質問・指示パターン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🔍 ファクト確認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Q：「Customer 1-1 の市場規模 12,000 台の出典は？」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A：スクレイピング DB か手入力サマリか訓練データ由来かを明示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70048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📊 根拠掘り下げ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Q：「KSF #3 のペイン強度『高』の判定根拠は？」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A：該当データ出典＋類似事例の参照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57016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♻️ 軸変更・再生成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Q：「STP の T1 ターゲット、価格軸 → 購買サイクル軸で再検討して」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 phase の再生成を提案＋実行（next phase）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443984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✂️ コピー調整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Q：「キャッチ C2 を 30 文字以内に短縮、女性向け強調」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A：4P の訴求軸を維持しつつ短縮案を 3 つ提示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30952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📄 アウトプット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Q：「上長会議用に 1 ページサマリを Word で出力」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A：PIM/PPTX/Word 自動生成（既存ツール連動）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49543"/>
            <a:ext cx="11430000" cy="393954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Noto Sans JP"/>
              </a:rPr>
              <a:t>一発生成 × 対話的ブラッシュアップ ＝ 担当者の「考える時間」を最大化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本提案書のデータ前提と PoC 移行時の置換ポリシー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【本提案書での扱い】サンプルデータ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2918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Noto Sans JP"/>
              </a:rPr>
              <a:t>◆ POS 数値（PoC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・月間 35 台 / 100L 引き合い 1.4 倍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・価格帯 ¥40-90 万 60%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リピート率（PoC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・大学 30% / 製薬 50%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SNS の声（PoC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・女性研究者発信 60%（「蓋が重い」 等）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100" b="1">
                <a:solidFill>
                  <a:srgbClr val="C4763A"/>
                </a:solidFill>
                <a:latin typeface="Noto Sans JP"/>
              </a:rPr>
              <a:t>→ これらは PoC 想定例として記載。</a:t>
            </a:r>
          </a:p>
          <a:p>
            <a:r>
              <a:rPr sz="1100" b="1">
                <a:solidFill>
                  <a:srgbClr val="C4763A"/>
                </a:solidFill>
                <a:latin typeface="Noto Sans JP"/>
              </a:rPr>
              <a:t>　 実 PoC では貴社実 POS / SNS データに置換します。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C4763A"/>
                </a:solidFill>
                <a:latin typeface="Noto Sans JP"/>
              </a:rPr>
              <a:t>【実 PoC では】実データに置換するもの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3291840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Noto Sans JP"/>
              </a:rPr>
              <a:t>◆ アズワン社内 POS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・購買履歴・属性・行動データ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既存 PB ラインアップ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・実カタログ・商品マスタ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SNS 観測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・実クエリ × 実発信内容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業界レポート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・矢野経済研・富士経済など（有償）</a:t>
            </a:r>
          </a:p>
          <a:p>
            <a:endParaRPr sz="1100" b="0">
              <a:solidFill>
                <a:srgbClr val="111827"/>
              </a:solidFill>
              <a:latin typeface="Noto Sans JP"/>
            </a:endParaRP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→ PoC 開始時に「3 つのインプット」をご提供いただき、</a:t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　 初回 3C レポートを 1 営業日で出力。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57800"/>
            <a:ext cx="11430000" cy="1051560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【スクレイピングデータ 101 件は実 EC データ】</a:t>
            </a:r>
          </a:p>
          <a:p>
            <a:r>
              <a:rPr sz="1000" b="0">
                <a:solidFill>
                  <a:srgbClr val="FFFFFF"/>
                </a:solidFill>
                <a:latin typeface="Noto Sans JP"/>
              </a:rPr>
              <a:t>内訳：asone 25 / トミー精工 12 / ヤマト科学 14 / 平山 27 / アルプ 23（2026-05 取得）</a:t>
            </a:r>
          </a:p>
          <a:p>
            <a:r>
              <a:rPr sz="1000" b="0">
                <a:solidFill>
                  <a:srgbClr val="FFFFFF"/>
                </a:solidFill>
                <a:latin typeface="Noto Sans JP"/>
              </a:rPr>
              <a:t>本提案書 Slide 8 の競合スペック比較表・Slide 10 の価格ポジショニングはこの実データに基づく。</a:t>
            </a:r>
          </a:p>
          <a:p>
            <a:r>
              <a:rPr sz="1000" b="1">
                <a:solidFill>
                  <a:srgbClr val="FDF6EF"/>
                </a:solidFill>
                <a:latin typeface="Noto Sans JP"/>
              </a:rPr>
              <a:t>→ サンプル（POS/SNS）と実データ（スクレイピング 101 件）の線引きを明確化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費用感とフェーズ別投資イメージ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【PoC 期間 ─ 初期】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5669280" cy="1384995"/>
          </a:xfrm>
          <a:prstGeom prst="rect">
            <a:avLst/>
          </a:prstGeom>
          <a:solidFill>
            <a:srgbClr val="F5F6F8"/>
          </a:solidFill>
          <a:ln w="12700">
            <a:solidFill>
              <a:srgbClr val="1F3A5F"/>
            </a:solidFill>
          </a:ln>
        </p:spPr>
        <p:txBody>
          <a:bodyPr wrap="square" lIns="109728" tIns="91440" rIns="109728" bIns="91440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Noto Sans JP"/>
              </a:rPr>
              <a:t>・現プロダクト利用 ……………… ¥0</a:t>
            </a: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   ベース機能（5 フェーズパイプライン）は既に稼働中</a:t>
            </a:r>
          </a:p>
          <a:p>
            <a:endParaRPr sz="1000" b="0">
              <a:solidFill>
                <a:srgbClr val="6B7280"/>
              </a:solidFill>
              <a:latin typeface="Noto Sans JP"/>
            </a:endParaRPr>
          </a:p>
          <a:p>
            <a:r>
              <a:rPr sz="1300" b="1">
                <a:solidFill>
                  <a:srgbClr val="C4763A"/>
                </a:solidFill>
                <a:latin typeface="Noto Sans JP"/>
              </a:rPr>
              <a:t>・要件カスタマイズ ………… 約 ¥200,000（一括）</a:t>
            </a: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   貴社固有データ連携・UI 調整・帳票テンプレ</a:t>
            </a:r>
          </a:p>
          <a:p>
            <a:endParaRPr sz="1000" b="0">
              <a:solidFill>
                <a:srgbClr val="6B7280"/>
              </a:solidFill>
              <a:latin typeface="Noto Sans JP"/>
            </a:endParaRP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・想定期間：</a:t>
            </a:r>
            <a:r>
              <a:rPr lang="ja-JP" altLang="en-US" sz="1200">
                <a:solidFill>
                  <a:srgbClr val="111827"/>
                </a:solidFill>
                <a:latin typeface="Noto Sans JP"/>
              </a:rPr>
              <a:t>２週間</a:t>
            </a:r>
            <a:endParaRPr sz="1200"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【以降ランニング ─ 月次】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669280" cy="2616101"/>
          </a:xfrm>
          <a:prstGeom prst="rect">
            <a:avLst/>
          </a:prstGeom>
          <a:solidFill>
            <a:srgbClr val="FDF6EF"/>
          </a:solidFill>
          <a:ln w="12700">
            <a:solidFill>
              <a:srgbClr val="C4763A"/>
            </a:solidFill>
          </a:ln>
        </p:spPr>
        <p:txBody>
          <a:bodyPr wrap="square" lIns="109728" tIns="91440" rIns="109728" bIns="9144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Noto Sans JP"/>
              </a:rPr>
              <a:t>・データ更新（競合 + 対象製品 100 件）  約 ¥30,000</a:t>
            </a:r>
            <a:r>
              <a:rPr lang="en-US" sz="1400" b="1">
                <a:solidFill>
                  <a:srgbClr val="111827"/>
                </a:solidFill>
                <a:latin typeface="Noto Sans JP"/>
              </a:rPr>
              <a:t>/</a:t>
            </a:r>
            <a:r>
              <a:rPr lang="ja-JP" altLang="en-US" sz="1400" b="1">
                <a:solidFill>
                  <a:srgbClr val="111827"/>
                </a:solidFill>
                <a:latin typeface="Noto Sans JP"/>
              </a:rPr>
              <a:t>製品</a:t>
            </a:r>
            <a:endParaRPr sz="1400" b="1">
              <a:solidFill>
                <a:srgbClr val="111827"/>
              </a:solidFill>
              <a:latin typeface="Noto Sans JP"/>
            </a:endParaRP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 </a:t>
            </a:r>
            <a:r>
              <a:rPr lang="ja-JP" altLang="en-US" sz="1000" b="0">
                <a:solidFill>
                  <a:srgbClr val="6B7280"/>
                </a:solidFill>
                <a:latin typeface="Noto Sans JP"/>
              </a:rPr>
              <a:t>今回デモ投入規模</a:t>
            </a:r>
            <a:endParaRPr sz="1000" b="0">
              <a:solidFill>
                <a:srgbClr val="6B7280"/>
              </a:solidFill>
              <a:latin typeface="Noto Sans JP"/>
            </a:endParaRPr>
          </a:p>
          <a:p>
            <a:endParaRPr lang="en-US" sz="1000" b="0">
              <a:solidFill>
                <a:srgbClr val="6B7280"/>
              </a:solidFill>
              <a:latin typeface="Noto Sans JP"/>
            </a:endParaRPr>
          </a:p>
          <a:p>
            <a:r>
              <a:rPr lang="ja-JP" altLang="en-US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・データ更新（競合 </a:t>
            </a:r>
            <a:r>
              <a:rPr lang="en-US" altLang="ja-JP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+ </a:t>
            </a:r>
            <a:r>
              <a:rPr lang="ja-JP" altLang="en-US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対象製品 </a:t>
            </a:r>
            <a:r>
              <a:rPr lang="en-US" altLang="ja-JP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50 </a:t>
            </a:r>
            <a:r>
              <a:rPr lang="ja-JP" altLang="en-US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件以下）  約 </a:t>
            </a:r>
            <a:r>
              <a:rPr lang="en-US" altLang="ja-JP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¥15,000/</a:t>
            </a:r>
            <a:r>
              <a:rPr lang="ja-JP" altLang="en-US" sz="1400" b="1">
                <a:solidFill>
                  <a:srgbClr val="111827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製品</a:t>
            </a:r>
            <a:endParaRPr lang="en-US" altLang="ja-JP" sz="1400" b="1">
              <a:solidFill>
                <a:srgbClr val="111827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1000" b="0">
                <a:solidFill>
                  <a:srgbClr val="6B7280"/>
                </a:solidFill>
                <a:latin typeface="Noto Sans JP"/>
              </a:rPr>
              <a:t>小規模</a:t>
            </a:r>
            <a:endParaRPr lang="en-US" altLang="ja-JP" sz="1000" b="0">
              <a:solidFill>
                <a:srgbClr val="6B7280"/>
              </a:solidFill>
              <a:latin typeface="Noto Sans JP"/>
            </a:endParaRPr>
          </a:p>
          <a:p>
            <a:endParaRPr sz="1000" b="0">
              <a:solidFill>
                <a:srgbClr val="6B7280"/>
              </a:solidFill>
              <a:latin typeface="Noto Sans JP"/>
            </a:endParaRPr>
          </a:p>
          <a:p>
            <a:r>
              <a:rPr sz="1300" b="1">
                <a:solidFill>
                  <a:srgbClr val="111827"/>
                </a:solidFill>
                <a:latin typeface="Noto Sans JP"/>
              </a:rPr>
              <a:t>・保守サービス ………………… ¥50,000 / 月</a:t>
            </a: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   リモート障害対応・モデル更新・プロンプト改善</a:t>
            </a:r>
          </a:p>
          <a:p>
            <a:endParaRPr sz="1000" b="0">
              <a:solidFill>
                <a:srgbClr val="6B7280"/>
              </a:solidFill>
              <a:latin typeface="Noto Sans JP"/>
            </a:endParaRPr>
          </a:p>
          <a:p>
            <a:r>
              <a:rPr sz="1300" b="1">
                <a:solidFill>
                  <a:srgbClr val="111827"/>
                </a:solidFill>
                <a:latin typeface="Noto Sans JP"/>
              </a:rPr>
              <a:t>・LLM API 実費（想定）……… 約 ¥10,000 / 月</a:t>
            </a: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   利用ボリュームに応じて変動（実費精算）</a:t>
            </a:r>
          </a:p>
          <a:p>
            <a:endParaRPr sz="1000" b="0">
              <a:solidFill>
                <a:srgbClr val="6B7280"/>
              </a:solidFill>
              <a:latin typeface="Noto Sans JP"/>
            </a:endParaRPr>
          </a:p>
          <a:p>
            <a:r>
              <a:rPr sz="1000" b="0">
                <a:solidFill>
                  <a:srgbClr val="6B7280"/>
                </a:solidFill>
                <a:latin typeface="Noto Sans JP"/>
              </a:rPr>
              <a:t>─────────────────────────</a:t>
            </a:r>
          </a:p>
          <a:p>
            <a:r>
              <a:rPr sz="1400" b="1">
                <a:solidFill>
                  <a:srgbClr val="C4763A"/>
                </a:solidFill>
                <a:latin typeface="Noto Sans JP"/>
              </a:rPr>
              <a:t>【月次合計】 約 ¥90,000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Noto Sans JP"/>
              </a:rPr>
              <a:t>【年間総額試算（参考）】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109728" tIns="91440" rIns="109728" bIns="9144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Noto Sans JP"/>
              </a:rPr>
              <a:t>初年度：PoC ¥200,000 ＋ 月次 ¥90,000 × 12 = 約 ¥1,280,000</a:t>
            </a:r>
          </a:p>
          <a:p>
            <a:r>
              <a:rPr sz="1300" b="1">
                <a:solidFill>
                  <a:srgbClr val="FFFFFF"/>
                </a:solidFill>
                <a:latin typeface="Noto Sans JP"/>
              </a:rPr>
              <a:t>2 年目以降：月次 ¥90,000 × 12 = 約 ¥1,080,000 /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 lIns="109728" tIns="91440" rIns="109728" bIns="91440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oto Sans JP"/>
              </a:rPr>
              <a:t>※ 全て税別／LLM API は実費精算（変動）／保守はリモート対応／追加要件は別途見積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3389</Words>
  <Application>Microsoft Office PowerPoint</Application>
  <PresentationFormat>ワイド画面</PresentationFormat>
  <Paragraphs>648</Paragraphs>
  <Slides>22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8" baseType="lpstr">
      <vt:lpstr>BIZ UDPゴシック</vt:lpstr>
      <vt:lpstr>Noto Sans JP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5</cp:revision>
  <dcterms:created xsi:type="dcterms:W3CDTF">2013-01-27T09:14:16Z</dcterms:created>
  <dcterms:modified xsi:type="dcterms:W3CDTF">2026-05-19T01:20:40Z</dcterms:modified>
  <cp:category/>
</cp:coreProperties>
</file>