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商品化まで数ヶ月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例えば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市場の声（EC・SNS）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43484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まで役割としてあるが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後工程部門で担っている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。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工数が割かれる。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4027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Noto Sans JP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Noto Sans JP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Noto Sans JP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・SNS・トレンドを機械的に集約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3C → KSF → STP → 4P → キャッチ+マスタ を自動生成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en-US" altLang="ja-JP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endParaRPr lang="en-US" sz="13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ターゲットとなる競合ECやSNSから、日々生み出される顧客の声を【集約】。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人間工学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（女性研究者・若手職員配慮）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設置容易性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（単相100V / スリム筐体）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価格訴求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（NB比 -25〜30%、機能限定版）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人間工学×中価格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例：「woman-friendly × 100L」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woman-friendly 100L（PB 仮称）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・軽量化蓋（電動アシスト）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・低位置投入口（150mm 短縮）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・カラータッチパネル（多言語）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・「100L、ラボの誰もが扱えるサイズへ」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-10〜15%、機能維持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PB「woman-friendly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電動アシスト上蓋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床から850mm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7インチカラータッチ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若手女性研究者（D2〜ポスドク）／ラボマネージャー（共用機運用）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電動アシストで誰でも安全に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「100L、ラボの誰もが扱えるサイズへ。」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「やさしいオートクレーブ、はじまる。」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・想定価格：NB（FLS-1000）比 -10〜15%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・機能維持＋人間工学プレミアム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主力カタログ掲載／大学法人ルート（共同購入）／研究機器商社との協業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【旧来のPB開発：6ヶ月】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woman-friendly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つのインプットがそろい次第、初回アウトプット（3Cレポート）まで【最短 1 営業日】で提示可能（MVP 稼働中）。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2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2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922"/>
              </p:ext>
            </p:extLst>
          </p:nvPr>
        </p:nvGraphicFramePr>
        <p:xfrm>
          <a:off x="914400" y="4206240"/>
          <a:ext cx="10515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〜4週間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キックオフ／3Cレポート初回出力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〜1週間（MVP 稼働中、既存環境に接続のみ）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事実に立脚するレポートを担保する「多層ガード」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【主軸】一次情報のスクレイピング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1031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Noto Sans JP"/>
              </a:rPr>
              <a:t>・自社（AS ONE / ナビス AXEL）：25 機種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・製造パートナー（トミー精工）：12 機種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・競合（ヤマト科学／平山製作所／アルプ）：64 機種</a:t>
            </a:r>
          </a:p>
          <a:p>
            <a:r>
              <a:rPr sz="1200" b="1">
                <a:solidFill>
                  <a:srgbClr val="C4763A"/>
                </a:solidFill>
                <a:latin typeface="Noto Sans JP"/>
              </a:rPr>
              <a:t>─ 合計 101 件、価格・型番・スペック・URL を実在ベースで保持 ─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→ TOP 機種スペック比較表・価格対決・共食い検証は</a:t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  この実 DB から引用、ハルシネーション余地ゼロ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【プロンプト】Claude への 4 つの厳格指示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2103120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Noto Sans JP"/>
              </a:rPr>
              <a:t>① 「ハルシネーション厳禁」明示</a:t>
            </a:r>
          </a:p>
          <a:p>
            <a:r>
              <a:rPr sz="1200" b="1">
                <a:solidFill>
                  <a:srgbClr val="111827"/>
                </a:solidFill>
                <a:latin typeface="Noto Sans JP"/>
              </a:rPr>
              <a:t>② 「データに記載なし」を許容＋明記必須</a:t>
            </a:r>
          </a:p>
          <a:p>
            <a:r>
              <a:rPr sz="1200" b="1">
                <a:solidFill>
                  <a:srgbClr val="111827"/>
                </a:solidFill>
                <a:latin typeface="Noto Sans JP"/>
              </a:rPr>
              <a:t>③ 各事実に出典セクション付与</a:t>
            </a:r>
          </a:p>
          <a:p>
            <a:r>
              <a:rPr sz="1100" b="0">
                <a:solidFill>
                  <a:srgbClr val="6B7280"/>
                </a:solidFill>
                <a:latin typeface="Noto Sans JP"/>
              </a:rPr>
              <a:t>　（3C／POS／SNS／競合 のいずれか）</a:t>
            </a:r>
          </a:p>
          <a:p>
            <a:r>
              <a:rPr sz="1200" b="1">
                <a:solidFill>
                  <a:srgbClr val="111827"/>
                </a:solidFill>
                <a:latin typeface="Noto Sans JP"/>
              </a:rPr>
              <a:t>④ 訓練データ由来は「推計／推定」と自己ラベリング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→ Claude が honest に「データに記載なし」と書く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【パイプライン構造】各 phase が前段レポートを必須引用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① 3C
（事実忠実）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スクレイピング DB を一次引用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52628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② KSF
（出典必須）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3C＋POS＋SNS から帰納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③ STP
（KSF 駆動）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KSF を根拠にセグメント定義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④ 4P
（STP 駆動）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STP のターゲットを実行戦術化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2628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⑤ キャッチ
＋マスタ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全段の論理連鎖を集約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594360"/>
          </a:xfrm>
          <a:prstGeom prst="rect">
            <a:avLst/>
          </a:prstGeom>
          <a:solidFill>
            <a:srgbClr val="F5F6F8"/>
          </a:solidFill>
          <a:ln w="6350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000" b="1">
                <a:solidFill>
                  <a:srgbClr val="1F3A5F"/>
                </a:solidFill>
                <a:latin typeface="Noto Sans JP"/>
              </a:rPr>
              <a:t>【さらに強化するロードマップ】</a:t>
            </a:r>
          </a:p>
          <a:p>
            <a:r>
              <a:rPr sz="900" b="0">
                <a:solidFill>
                  <a:srgbClr val="111827"/>
                </a:solidFill>
                <a:latin typeface="Noto Sans JP"/>
              </a:rPr>
              <a:t>行レベル出典トラッキング（クリック→ raw data へジャンプ） ／ Web 検索 API 接続でファクト強化 ／ ファクトチェック専用エージェント追加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レポート完成後の壁打ち：統括エージェントとの対話モード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【仕組み】統括エージェントが全コンテキストを把握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0292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Noto Sans JP"/>
              </a:rPr>
              <a:t>案件詳細画面に常設のチャット UI を配置。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統括コンサルタント AI が以下をすべて把握: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・案件メタ（カテゴリ・PB コンセプト・ベース機種）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・スクレイピング 101 件の生データ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・POS / SNS の手入力サマリ</a:t>
            </a:r>
          </a:p>
          <a:p>
            <a:r>
              <a:rPr sz="1100" b="1">
                <a:solidFill>
                  <a:srgbClr val="C4763A"/>
                </a:solidFill>
                <a:latin typeface="Noto Sans JP"/>
              </a:rPr>
              <a:t>・5 フェーズ全レポート Markdown 全文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→ 「あの数値の出典は？」「あの軸で再検討して」</a:t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　 のような対話的ブラッシュアップが可能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【履歴】案件単位で永続化、いつでも会話を再開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【ルール】レポート未記載は「データに記載なし」と返答、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　 ハルシネーション抑止は生成時と同等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37160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【ユースケース】よくある質問・指示パターン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6309360" cy="841248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100" b="1">
                <a:solidFill>
                  <a:srgbClr val="C4763A"/>
                </a:solidFill>
                <a:latin typeface="Noto Sans JP"/>
              </a:rPr>
              <a:t>🔍 ファクト確認</a:t>
            </a:r>
          </a:p>
          <a:p>
            <a:r>
              <a:rPr sz="1000" b="0">
                <a:solidFill>
                  <a:srgbClr val="111827"/>
                </a:solidFill>
                <a:latin typeface="Noto Sans JP"/>
              </a:rPr>
              <a:t>Q：「Customer 1-1 の市場規模 12,000 台の出典は？」</a:t>
            </a:r>
          </a:p>
          <a:p>
            <a:r>
              <a:rPr sz="950" b="0">
                <a:solidFill>
                  <a:srgbClr val="6B7280"/>
                </a:solidFill>
                <a:latin typeface="Noto Sans JP"/>
              </a:rPr>
              <a:t>A：スクレイピング DB か手入力サマリか訓練データ由来かを明示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70048"/>
            <a:ext cx="6309360" cy="841248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100" b="1">
                <a:solidFill>
                  <a:srgbClr val="C4763A"/>
                </a:solidFill>
                <a:latin typeface="Noto Sans JP"/>
              </a:rPr>
              <a:t>📊 根拠掘り下げ</a:t>
            </a:r>
          </a:p>
          <a:p>
            <a:r>
              <a:rPr sz="1000" b="0">
                <a:solidFill>
                  <a:srgbClr val="111827"/>
                </a:solidFill>
                <a:latin typeface="Noto Sans JP"/>
              </a:rPr>
              <a:t>Q：「KSF #3 のペイン強度『高』の判定根拠は？」</a:t>
            </a:r>
          </a:p>
          <a:p>
            <a:r>
              <a:rPr sz="950" b="0">
                <a:solidFill>
                  <a:srgbClr val="6B7280"/>
                </a:solidFill>
                <a:latin typeface="Noto Sans JP"/>
              </a:rPr>
              <a:t>A：該当データ出典＋類似事例の参照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57016"/>
            <a:ext cx="6309360" cy="841248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100" b="1">
                <a:solidFill>
                  <a:srgbClr val="C4763A"/>
                </a:solidFill>
                <a:latin typeface="Noto Sans JP"/>
              </a:rPr>
              <a:t>♻️ 軸変更・再生成</a:t>
            </a:r>
          </a:p>
          <a:p>
            <a:r>
              <a:rPr sz="1000" b="0">
                <a:solidFill>
                  <a:srgbClr val="111827"/>
                </a:solidFill>
                <a:latin typeface="Noto Sans JP"/>
              </a:rPr>
              <a:t>Q：「STP の T1 ターゲット、価格軸 → 購買サイクル軸で再検討して」</a:t>
            </a:r>
          </a:p>
          <a:p>
            <a:r>
              <a:rPr sz="950" b="0">
                <a:solidFill>
                  <a:srgbClr val="6B7280"/>
                </a:solidFill>
                <a:latin typeface="Noto Sans JP"/>
              </a:rPr>
              <a:t>A：該当 phase の再生成を提案＋実行（next phase）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443984"/>
            <a:ext cx="6309360" cy="841248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100" b="1">
                <a:solidFill>
                  <a:srgbClr val="C4763A"/>
                </a:solidFill>
                <a:latin typeface="Noto Sans JP"/>
              </a:rPr>
              <a:t>✂️ コピー調整</a:t>
            </a:r>
          </a:p>
          <a:p>
            <a:r>
              <a:rPr sz="1000" b="0">
                <a:solidFill>
                  <a:srgbClr val="111827"/>
                </a:solidFill>
                <a:latin typeface="Noto Sans JP"/>
              </a:rPr>
              <a:t>Q：「キャッチ C2 を 30 文字以内に短縮、女性向け強調」</a:t>
            </a:r>
          </a:p>
          <a:p>
            <a:r>
              <a:rPr sz="950" b="0">
                <a:solidFill>
                  <a:srgbClr val="6B7280"/>
                </a:solidFill>
                <a:latin typeface="Noto Sans JP"/>
              </a:rPr>
              <a:t>A：4P の訴求軸を維持しつつ短縮案を 3 つ提示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30952"/>
            <a:ext cx="6309360" cy="841248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100" b="1">
                <a:solidFill>
                  <a:srgbClr val="C4763A"/>
                </a:solidFill>
                <a:latin typeface="Noto Sans JP"/>
              </a:rPr>
              <a:t>📄 アウトプット</a:t>
            </a:r>
          </a:p>
          <a:p>
            <a:r>
              <a:rPr sz="1000" b="0">
                <a:solidFill>
                  <a:srgbClr val="111827"/>
                </a:solidFill>
                <a:latin typeface="Noto Sans JP"/>
              </a:rPr>
              <a:t>Q：「上長会議用に 1 ページサマリを Word で出力」</a:t>
            </a:r>
          </a:p>
          <a:p>
            <a:r>
              <a:rPr sz="950" b="0">
                <a:solidFill>
                  <a:srgbClr val="6B7280"/>
                </a:solidFill>
                <a:latin typeface="Noto Sans JP"/>
              </a:rPr>
              <a:t>A：PIM/PPTX/Word 自動生成（既存ツール連動）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一発生成 × 対話的ブラッシュアップ ＝ 担当者の「考える時間」を最大化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2118</Words>
  <Application>Microsoft Office PowerPoint</Application>
  <PresentationFormat>ワイド画面</PresentationFormat>
  <Paragraphs>483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BIZ UDPゴシック</vt:lpstr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2</cp:revision>
  <dcterms:created xsi:type="dcterms:W3CDTF">2013-01-27T09:14:16Z</dcterms:created>
  <dcterms:modified xsi:type="dcterms:W3CDTF">2026-05-14T06:21:21Z</dcterms:modified>
  <cp:category/>
</cp:coreProperties>
</file>